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83" r:id="rId2"/>
    <p:sldId id="257" r:id="rId3"/>
    <p:sldId id="282" r:id="rId4"/>
    <p:sldId id="285" r:id="rId5"/>
    <p:sldId id="290" r:id="rId6"/>
    <p:sldId id="278" r:id="rId7"/>
    <p:sldId id="293" r:id="rId8"/>
    <p:sldId id="291" r:id="rId9"/>
    <p:sldId id="292" r:id="rId10"/>
    <p:sldId id="281" r:id="rId11"/>
    <p:sldId id="279" r:id="rId12"/>
    <p:sldId id="262" r:id="rId13"/>
    <p:sldId id="264" r:id="rId14"/>
    <p:sldId id="294" r:id="rId15"/>
    <p:sldId id="286" r:id="rId16"/>
    <p:sldId id="295" r:id="rId17"/>
    <p:sldId id="287" r:id="rId18"/>
    <p:sldId id="280" r:id="rId19"/>
    <p:sldId id="296" r:id="rId20"/>
    <p:sldId id="288" r:id="rId21"/>
    <p:sldId id="289" r:id="rId22"/>
    <p:sldId id="276"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VyasVraj/IBM_Project"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8200" y="411290"/>
            <a:ext cx="10515600" cy="2852737"/>
          </a:xfrm>
        </p:spPr>
        <p:txBody>
          <a:bodyPr>
            <a:normAutofit/>
          </a:bodyPr>
          <a:lstStyle/>
          <a:p>
            <a:pPr algn="ctr"/>
            <a:r>
              <a:rPr lang="en-US" b="1" dirty="0"/>
              <a:t>IBM University Engagement Project Submission</a:t>
            </a: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969010" y="4077399"/>
            <a:ext cx="10515600" cy="1500187"/>
          </a:xfrm>
        </p:spPr>
        <p:txBody>
          <a:bodyPr/>
          <a:lstStyle/>
          <a:p>
            <a:pPr algn="ctr"/>
            <a:r>
              <a:rPr lang="en-US" b="1" i="1" dirty="0"/>
              <a:t>“</a:t>
            </a:r>
            <a:r>
              <a:rPr lang="en-IN" b="1" i="1" dirty="0"/>
              <a:t>Exploring the power of Agentic AI with IBM Granite and </a:t>
            </a:r>
            <a:r>
              <a:rPr lang="en-IN" b="1" i="1" dirty="0" err="1"/>
              <a:t>LangFlow</a:t>
            </a:r>
            <a:r>
              <a:rPr lang="en-IN" b="1" i="1" dirty="0"/>
              <a:t>”</a:t>
            </a:r>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552373557"/>
              </p:ext>
            </p:extLst>
          </p:nvPr>
        </p:nvGraphicFramePr>
        <p:xfrm>
          <a:off x="1102321" y="2831318"/>
          <a:ext cx="9394989" cy="2984927"/>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endParaRPr lang="en-US" dirty="0"/>
                    </a:p>
                    <a:p>
                      <a:pPr marL="0" marR="0" lvl="0" indent="0" algn="ctr" rtl="0">
                        <a:spcBef>
                          <a:spcPts val="0"/>
                        </a:spcBef>
                        <a:spcAft>
                          <a:spcPts val="0"/>
                        </a:spcAft>
                        <a:buNone/>
                      </a:pPr>
                      <a:endParaRPr lang="en-US" dirty="0"/>
                    </a:p>
                    <a:p>
                      <a:pPr marL="0" marR="0" lvl="0" indent="0" algn="ctr" rtl="0">
                        <a:spcBef>
                          <a:spcPts val="0"/>
                        </a:spcBef>
                        <a:spcAft>
                          <a:spcPts val="0"/>
                        </a:spcAft>
                        <a:buNone/>
                      </a:pPr>
                      <a:r>
                        <a:rPr lang="en-US" dirty="0"/>
                        <a:t>VYAS VRAJ JAYESHBHAI.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800" dirty="0"/>
                    </a:p>
                    <a:p>
                      <a:pPr marL="0" marR="0" lvl="0" indent="0" algn="l" rtl="0">
                        <a:spcBef>
                          <a:spcPts val="0"/>
                        </a:spcBef>
                        <a:spcAft>
                          <a:spcPts val="0"/>
                        </a:spcAft>
                        <a:buNone/>
                      </a:pPr>
                      <a:endParaRPr lang="en-IN" sz="1800" dirty="0"/>
                    </a:p>
                    <a:p>
                      <a:pPr marL="0" marR="0" lvl="0" indent="0" algn="l" rtl="0">
                        <a:spcBef>
                          <a:spcPts val="0"/>
                        </a:spcBef>
                        <a:spcAft>
                          <a:spcPts val="0"/>
                        </a:spcAft>
                        <a:buNone/>
                      </a:pPr>
                      <a:endParaRPr lang="en-IN" sz="1800" dirty="0"/>
                    </a:p>
                    <a:p>
                      <a:pPr marL="0" marR="0" lvl="0" indent="0" algn="l" rtl="0">
                        <a:spcBef>
                          <a:spcPts val="0"/>
                        </a:spcBef>
                        <a:spcAft>
                          <a:spcPts val="0"/>
                        </a:spcAft>
                        <a:buNone/>
                      </a:pPr>
                      <a:endParaRPr lang="en-IN" sz="1800" dirty="0"/>
                    </a:p>
                    <a:p>
                      <a:pPr marL="0" marR="0" lvl="0" indent="0" algn="l" rtl="0">
                        <a:spcBef>
                          <a:spcPts val="0"/>
                        </a:spcBef>
                        <a:spcAft>
                          <a:spcPts val="0"/>
                        </a:spcAft>
                        <a:buNone/>
                      </a:pPr>
                      <a:endParaRPr lang="en-IN" sz="1800" dirty="0"/>
                    </a:p>
                    <a:p>
                      <a:pPr marL="0" marR="0" lvl="0" indent="0" algn="l" rtl="0">
                        <a:spcBef>
                          <a:spcPts val="0"/>
                        </a:spcBef>
                        <a:spcAft>
                          <a:spcPts val="0"/>
                        </a:spcAft>
                        <a:buNone/>
                      </a:pPr>
                      <a:endParaRPr lang="en-IN" sz="1800" dirty="0"/>
                    </a:p>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endParaRPr lang="en-US" dirty="0"/>
                    </a:p>
                    <a:p>
                      <a:pPr marL="0" marR="0" lvl="0" indent="0" algn="ctr" rtl="0">
                        <a:spcBef>
                          <a:spcPts val="0"/>
                        </a:spcBef>
                        <a:spcAft>
                          <a:spcPts val="0"/>
                        </a:spcAft>
                        <a:buNone/>
                      </a:pPr>
                      <a:endParaRPr lang="en-US" dirty="0"/>
                    </a:p>
                    <a:p>
                      <a:pPr marL="0" marR="0" lvl="0" indent="0" algn="ctr" rtl="0">
                        <a:spcBef>
                          <a:spcPts val="0"/>
                        </a:spcBef>
                        <a:spcAft>
                          <a:spcPts val="0"/>
                        </a:spcAft>
                        <a:buNone/>
                      </a:pPr>
                      <a:r>
                        <a:rPr lang="en-US" dirty="0"/>
                        <a:t>vyasvraj1815@gmail.com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endParaRPr lang="en-US" dirty="0"/>
                    </a:p>
                    <a:p>
                      <a:pPr marL="0" marR="0" lvl="0" indent="0" algn="ctr" rtl="0">
                        <a:spcBef>
                          <a:spcPts val="0"/>
                        </a:spcBef>
                        <a:spcAft>
                          <a:spcPts val="0"/>
                        </a:spcAft>
                        <a:buNone/>
                      </a:pPr>
                      <a:endParaRPr lang="en-US" dirty="0"/>
                    </a:p>
                    <a:p>
                      <a:pPr marL="0" marR="0" lvl="0" indent="0" algn="ctr" rtl="0">
                        <a:spcBef>
                          <a:spcPts val="0"/>
                        </a:spcBef>
                        <a:spcAft>
                          <a:spcPts val="0"/>
                        </a:spcAft>
                        <a:buNone/>
                      </a:pPr>
                      <a:r>
                        <a:rPr lang="en-US" dirty="0"/>
                        <a:t>9913003111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7" name="TextBox 6">
            <a:extLst>
              <a:ext uri="{FF2B5EF4-FFF2-40B4-BE49-F238E27FC236}">
                <a16:creationId xmlns:a16="http://schemas.microsoft.com/office/drawing/2014/main" id="{3D723CA3-EC2D-165A-F109-3759C4E9C8A4}"/>
              </a:ext>
            </a:extLst>
          </p:cNvPr>
          <p:cNvSpPr txBox="1"/>
          <p:nvPr/>
        </p:nvSpPr>
        <p:spPr>
          <a:xfrm>
            <a:off x="690624" y="338328"/>
            <a:ext cx="11501376" cy="2492990"/>
          </a:xfrm>
          <a:prstGeom prst="rect">
            <a:avLst/>
          </a:prstGeom>
          <a:noFill/>
        </p:spPr>
        <p:txBody>
          <a:bodyPr wrap="square" rtlCol="0">
            <a:spAutoFit/>
          </a:bodyPr>
          <a:lstStyle/>
          <a:p>
            <a:r>
              <a:rPr lang="en-US" sz="3200" b="1" dirty="0"/>
              <a:t>Project Tile </a:t>
            </a:r>
            <a:r>
              <a:rPr lang="en-US" sz="3600" b="1" dirty="0"/>
              <a:t>– </a:t>
            </a:r>
            <a:r>
              <a:rPr lang="en-US" sz="2400" b="1" dirty="0">
                <a:highlight>
                  <a:srgbClr val="FFFF00"/>
                </a:highlight>
              </a:rPr>
              <a:t>[</a:t>
            </a:r>
            <a:r>
              <a:rPr lang="en-IN" sz="2400" b="1" dirty="0">
                <a:highlight>
                  <a:srgbClr val="FFFF00"/>
                </a:highlight>
              </a:rPr>
              <a:t>Agentic AI for Mental Health&amp; Suicide Prevention</a:t>
            </a:r>
            <a:r>
              <a:rPr lang="en-US" sz="2400" b="1" dirty="0">
                <a:highlight>
                  <a:srgbClr val="FFFF00"/>
                </a:highlight>
              </a:rPr>
              <a:t>]</a:t>
            </a:r>
            <a:br>
              <a:rPr lang="en-IN" sz="2400" b="1" dirty="0">
                <a:highlight>
                  <a:srgbClr val="FFFF00"/>
                </a:highlight>
              </a:rPr>
            </a:br>
            <a:br>
              <a:rPr lang="en-IN" sz="2400" b="1" dirty="0">
                <a:highlight>
                  <a:srgbClr val="FFFF00"/>
                </a:highlight>
              </a:rPr>
            </a:br>
            <a:r>
              <a:rPr lang="en-US" sz="3200" b="1" dirty="0"/>
              <a:t>Domain of  Project </a:t>
            </a:r>
            <a:r>
              <a:rPr lang="en-US" sz="3600" b="1" dirty="0"/>
              <a:t>– </a:t>
            </a:r>
            <a:r>
              <a:rPr lang="en-US" sz="2400" b="1" dirty="0">
                <a:highlight>
                  <a:srgbClr val="FFFF00"/>
                </a:highlight>
              </a:rPr>
              <a:t>[ Healthcare.]</a:t>
            </a:r>
            <a:br>
              <a:rPr lang="en-US" sz="2400" b="1" dirty="0">
                <a:highlight>
                  <a:srgbClr val="FFFF00"/>
                </a:highlight>
              </a:rPr>
            </a:br>
            <a:br>
              <a:rPr lang="en-US" sz="3600" b="1" dirty="0">
                <a:highlight>
                  <a:srgbClr val="FFFF00"/>
                </a:highlight>
              </a:rPr>
            </a:br>
            <a:endParaRPr lang="en-IN" sz="2400" b="1" dirty="0">
              <a:highlight>
                <a:srgbClr val="FFFF00"/>
              </a:highlight>
            </a:endParaRPr>
          </a:p>
        </p:txBody>
      </p:sp>
      <p:pic>
        <p:nvPicPr>
          <p:cNvPr id="5" name="Picture 4">
            <a:extLst>
              <a:ext uri="{FF2B5EF4-FFF2-40B4-BE49-F238E27FC236}">
                <a16:creationId xmlns:a16="http://schemas.microsoft.com/office/drawing/2014/main" id="{0C7E0386-67AC-18FA-8CD9-A21206A80E96}"/>
              </a:ext>
            </a:extLst>
          </p:cNvPr>
          <p:cNvPicPr>
            <a:picLocks noChangeAspect="1"/>
          </p:cNvPicPr>
          <p:nvPr/>
        </p:nvPicPr>
        <p:blipFill>
          <a:blip r:embed="rId3"/>
          <a:stretch>
            <a:fillRect/>
          </a:stretch>
        </p:blipFill>
        <p:spPr>
          <a:xfrm>
            <a:off x="3720313" y="3929468"/>
            <a:ext cx="1299743" cy="166458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185761"/>
          </a:xfrm>
          <a:prstGeom prst="rect">
            <a:avLst/>
          </a:prstGeom>
          <a:noFill/>
        </p:spPr>
        <p:txBody>
          <a:bodyPr wrap="square" rtlCol="0">
            <a:spAutoFit/>
          </a:bodyPr>
          <a:lstStyle/>
          <a:p>
            <a:r>
              <a:rPr lang="en-IN" b="1" dirty="0"/>
              <a:t>Agentic AI for Mental Health Awareness &amp; Suicide Prevention</a:t>
            </a:r>
            <a:endParaRPr lang="en-IN" dirty="0"/>
          </a:p>
          <a:p>
            <a:r>
              <a:rPr lang="en-IN" b="1" dirty="0"/>
              <a:t>The Challenge</a:t>
            </a:r>
            <a:endParaRPr lang="en-IN" dirty="0"/>
          </a:p>
          <a:p>
            <a:r>
              <a:rPr lang="en-IN" dirty="0"/>
              <a:t>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a:t>
            </a:r>
          </a:p>
          <a:p>
            <a:r>
              <a:rPr lang="en-IN" b="1" dirty="0"/>
              <a:t>The Objective</a:t>
            </a:r>
            <a:endParaRPr lang="en-IN" dirty="0"/>
          </a:p>
          <a:p>
            <a:r>
              <a:rPr lang="en-IN" dirty="0"/>
              <a:t>Build an Agentic AI-powered Mental Health Awareness &amp; Suicide Prevention Agent that is empathetic, proactive, and safe. The solution should:</a:t>
            </a:r>
          </a:p>
          <a:p>
            <a:pPr lvl="0"/>
            <a:r>
              <a:rPr lang="en-IN" b="1" dirty="0"/>
              <a:t>Promote Awareness &amp; Education </a:t>
            </a:r>
            <a:r>
              <a:rPr lang="en-IN" dirty="0"/>
              <a:t>– Share accessible resources on mindfulness, coping strategies, and self-care.</a:t>
            </a:r>
          </a:p>
          <a:p>
            <a:pPr lvl="0"/>
            <a:r>
              <a:rPr lang="en-IN" b="1" dirty="0"/>
              <a:t>Enable Early Detection (RAG) </a:t>
            </a:r>
            <a:r>
              <a:rPr lang="en-IN" dirty="0"/>
              <a:t>– Use Retrieval-Augmented Generation to identify distress signals in conversations, journaling inputs, or safe online data.</a:t>
            </a:r>
          </a:p>
          <a:p>
            <a:pPr lvl="0"/>
            <a:r>
              <a:rPr lang="en-IN" b="1" dirty="0"/>
              <a:t>Provide Empathetic Support – </a:t>
            </a:r>
            <a:r>
              <a:rPr lang="en-IN" dirty="0"/>
              <a:t>Build a conversational agent that listens actively and responds with empathy (with clear disclaimers: not a substitute for professional medical advice).</a:t>
            </a:r>
          </a:p>
          <a:p>
            <a:pPr lvl="0"/>
            <a:r>
              <a:rPr lang="en-IN" b="1" dirty="0"/>
              <a:t>Predict &amp; Prevent Risks – </a:t>
            </a:r>
            <a:r>
              <a:rPr lang="en-IN" dirty="0"/>
              <a:t>Forecast stress peaks, suggest preventive strategies, and issue alerts when high-risk signals are detected (with consent).</a:t>
            </a:r>
          </a:p>
          <a:p>
            <a:pPr lvl="0"/>
            <a:r>
              <a:rPr lang="en-IN" b="1" dirty="0"/>
              <a:t>Connect to Human Support – </a:t>
            </a:r>
            <a:r>
              <a:rPr lang="en-IN" dirty="0"/>
              <a:t>Link users to helplines, </a:t>
            </a:r>
            <a:r>
              <a:rPr lang="en-IN" dirty="0" err="1"/>
              <a:t>counselors</a:t>
            </a:r>
            <a:r>
              <a:rPr lang="en-IN" dirty="0"/>
              <a:t>, or community support for timely intervention.</a:t>
            </a:r>
          </a:p>
          <a:p>
            <a:r>
              <a:rPr lang="en-IN" b="1" dirty="0"/>
              <a:t>Tech Stack (Mandatory)</a:t>
            </a:r>
            <a:endParaRPr lang="en-IN" dirty="0"/>
          </a:p>
          <a:p>
            <a:pPr lvl="0"/>
            <a:r>
              <a:rPr lang="en-IN" dirty="0"/>
              <a:t>IBM </a:t>
            </a:r>
            <a:r>
              <a:rPr lang="en-IN" dirty="0" err="1"/>
              <a:t>Langflow</a:t>
            </a:r>
            <a:r>
              <a:rPr lang="en-IN" dirty="0"/>
              <a:t> / IBM Orchestrate + IBM Models </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228600" y="1028593"/>
            <a:ext cx="10607040" cy="5262979"/>
          </a:xfrm>
          <a:prstGeom prst="rect">
            <a:avLst/>
          </a:prstGeom>
          <a:noFill/>
        </p:spPr>
        <p:txBody>
          <a:bodyPr wrap="square" rtlCol="0">
            <a:spAutoFit/>
          </a:bodyPr>
          <a:lstStyle/>
          <a:p>
            <a:pPr algn="just"/>
            <a:r>
              <a:rPr lang="en-IN" b="1" dirty="0"/>
              <a:t>Proposed Solution: AI-Powered Mental Health Awareness &amp; Suicide Prevention Agent</a:t>
            </a:r>
          </a:p>
          <a:p>
            <a:pPr algn="just"/>
            <a:r>
              <a:rPr lang="en-IN" dirty="0"/>
              <a:t>The proposed solution is an </a:t>
            </a:r>
            <a:r>
              <a:rPr lang="en-IN" b="1" dirty="0"/>
              <a:t>Agentic AI-powered Mental Health Awareness &amp; Suicide Prevention platform</a:t>
            </a:r>
            <a:r>
              <a:rPr lang="en-IN" dirty="0"/>
              <a:t> built using </a:t>
            </a:r>
            <a:r>
              <a:rPr lang="en-IN" b="1" dirty="0"/>
              <a:t>IBM </a:t>
            </a:r>
            <a:r>
              <a:rPr lang="en-IN" b="1" dirty="0" err="1"/>
              <a:t>LangFlow</a:t>
            </a:r>
            <a:r>
              <a:rPr lang="en-IN" b="1" dirty="0"/>
              <a:t>, IBM Orchestrate, IBM watsonx.ai, Granite Models, and a Retrieval-Augmented Generation (RAG) pipeline</a:t>
            </a:r>
            <a:r>
              <a:rPr lang="en-IN" dirty="0"/>
              <a:t> to provide empathetic, secure, and proactive mental health support. The platform is designed to promote mental wellness, identify early signs of emotional distress, and connect users with appropriate support while maintaining user privacy and safety.</a:t>
            </a:r>
          </a:p>
          <a:p>
            <a:pPr algn="just"/>
            <a:r>
              <a:rPr lang="en-IN" dirty="0"/>
              <a:t>At its core, the system uses a </a:t>
            </a:r>
            <a:r>
              <a:rPr lang="en-IN" b="1" dirty="0"/>
              <a:t>Retrieval-Augmented Generation (RAG)</a:t>
            </a:r>
            <a:r>
              <a:rPr lang="en-IN" dirty="0"/>
              <a:t> architecture that retrieves verified mental health information from trusted knowledge sources such as the </a:t>
            </a:r>
            <a:r>
              <a:rPr lang="en-IN" b="1" dirty="0"/>
              <a:t>World Health Organization (WHO), National Institute of Mental Health (NIMH), government mental health guidelines, and evidence-based wellness resources</a:t>
            </a:r>
            <a:r>
              <a:rPr lang="en-IN" dirty="0"/>
              <a:t>. This knowledge is embedded into a vector database, enabling the AI to generate reliable, context-aware, and empathetic responses using </a:t>
            </a:r>
            <a:r>
              <a:rPr lang="en-IN" b="1" dirty="0"/>
              <a:t>IBM Granite Models</a:t>
            </a:r>
            <a:r>
              <a:rPr lang="en-IN" dirty="0"/>
              <a:t>.</a:t>
            </a:r>
          </a:p>
          <a:p>
            <a:pPr algn="just"/>
            <a:r>
              <a:rPr lang="en-IN" dirty="0"/>
              <a:t>The platform consists of </a:t>
            </a:r>
            <a:r>
              <a:rPr lang="en-IN" b="1" dirty="0"/>
              <a:t>five intelligent AI agents</a:t>
            </a:r>
            <a:r>
              <a:rPr lang="en-IN" dirty="0"/>
              <a:t> working together to provide comprehensive mental health assistance:</a:t>
            </a:r>
          </a:p>
          <a:p>
            <a:pPr algn="just"/>
            <a:r>
              <a:rPr lang="en-IN" b="1" dirty="0"/>
              <a:t>1. Mental Health Awareness Agent</a:t>
            </a:r>
          </a:p>
          <a:p>
            <a:pPr algn="just"/>
            <a:r>
              <a:rPr lang="en-IN" dirty="0"/>
              <a:t>This agent educates users about mental health by providing easy-to-understand information on topics such as anxiety, depression, stress management, mindfulness, self-care practices, emotional well-being, and healthy lifestyle habits. It recommends verified articles, breathing exercises, meditation techniques, and wellness resources to improve mental health awareness.</a:t>
            </a:r>
          </a:p>
          <a:p>
            <a:pPr algn="just"/>
            <a:r>
              <a:rPr lang="en-IN" b="1" dirty="0"/>
              <a:t>2. Early Detection Agent (RAG-Based)</a:t>
            </a:r>
          </a:p>
          <a:p>
            <a:pPr algn="just"/>
            <a:r>
              <a:rPr lang="en-IN" dirty="0"/>
              <a:t>Using Retrieval-Augmented Generation and natural language understanding, this agent </a:t>
            </a:r>
            <a:r>
              <a:rPr lang="en-IN" dirty="0" err="1"/>
              <a:t>analyzes</a:t>
            </a:r>
            <a:r>
              <a:rPr lang="en-IN" dirty="0"/>
              <a:t> user conversations, journal entries, and mood logs to detect early signs of emotional distress, anxiety, depression, burnout, or suicidal ideation. It identifies </a:t>
            </a:r>
            <a:r>
              <a:rPr lang="en-IN" dirty="0" err="1"/>
              <a:t>behavioral</a:t>
            </a:r>
            <a:r>
              <a:rPr lang="en-IN" dirty="0"/>
              <a:t> patterns and provides timely recommendations while ensuring ethical AI practices and user consent.</a:t>
            </a:r>
          </a:p>
          <a:p>
            <a:pPr algn="just"/>
            <a:r>
              <a:rPr lang="en-IN" b="1" dirty="0"/>
              <a:t>3. Empathetic Support Agent</a:t>
            </a:r>
          </a:p>
          <a:p>
            <a:pPr algn="just"/>
            <a:r>
              <a:rPr lang="en-IN" dirty="0"/>
              <a:t>This conversational AI acts as a compassionate virtual companion that actively listens to users and responds with empathy and encouragement. Powered by IBM Granite Models, it offers emotional support, coping strategies, stress-relief techniques, and mindfulness exercises while clearly informing users that it is </a:t>
            </a:r>
            <a:r>
              <a:rPr lang="en-IN" b="1" dirty="0"/>
              <a:t>not a substitute for professional medical advice or licensed mental health care</a:t>
            </a:r>
            <a:r>
              <a:rPr lang="en-IN" dirty="0"/>
              <a:t>.</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228600" y="230832"/>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0C00E4-9C23-A88E-7FD6-8862AF4474A2}"/>
              </a:ext>
            </a:extLst>
          </p:cNvPr>
          <p:cNvSpPr txBox="1"/>
          <p:nvPr/>
        </p:nvSpPr>
        <p:spPr>
          <a:xfrm>
            <a:off x="265176" y="420624"/>
            <a:ext cx="11292840" cy="3970318"/>
          </a:xfrm>
          <a:prstGeom prst="rect">
            <a:avLst/>
          </a:prstGeom>
          <a:noFill/>
        </p:spPr>
        <p:txBody>
          <a:bodyPr wrap="square">
            <a:spAutoFit/>
          </a:bodyPr>
          <a:lstStyle/>
          <a:p>
            <a:pPr algn="just"/>
            <a:r>
              <a:rPr lang="en-IN" b="1" dirty="0"/>
              <a:t>4. Risk Prediction &amp; Prevention Agent</a:t>
            </a:r>
          </a:p>
          <a:p>
            <a:pPr algn="just"/>
            <a:r>
              <a:rPr lang="en-IN" dirty="0"/>
              <a:t>This agent continuously </a:t>
            </a:r>
            <a:r>
              <a:rPr lang="en-IN" dirty="0" err="1"/>
              <a:t>analyzes</a:t>
            </a:r>
            <a:r>
              <a:rPr lang="en-IN" dirty="0"/>
              <a:t> mood trends, stress levels, sleep patterns, and journal history to forecast potential emotional crises or stress peaks. Based on predictive insights, it generates personalized wellness plans, recommends preventive strategies, schedules self-care reminders, and issues alerts when high-risk patterns are detected, subject to user consent.</a:t>
            </a:r>
          </a:p>
          <a:p>
            <a:pPr algn="just"/>
            <a:r>
              <a:rPr lang="en-IN" b="1" dirty="0"/>
              <a:t>5. Crisis Support &amp; Human Assistance Agent</a:t>
            </a:r>
          </a:p>
          <a:p>
            <a:pPr algn="just"/>
            <a:r>
              <a:rPr lang="en-IN" dirty="0"/>
              <a:t>When high-risk or crisis-related signals are identified, this agent immediately provides emergency guidance by displaying suicide prevention helplines, nearby </a:t>
            </a:r>
            <a:r>
              <a:rPr lang="en-IN" dirty="0" err="1"/>
              <a:t>counseling</a:t>
            </a:r>
            <a:r>
              <a:rPr lang="en-IN" dirty="0"/>
              <a:t> services, mental health professionals, and trusted emergency contacts. With the user's permission, it can notify pre-selected emergency contacts or caregivers to ensure timely human intervention.</a:t>
            </a:r>
          </a:p>
          <a:p>
            <a:pPr algn="just"/>
            <a:r>
              <a:rPr lang="en-IN" dirty="0"/>
              <a:t>The solution includes a </a:t>
            </a:r>
            <a:r>
              <a:rPr lang="en-IN" b="1" dirty="0"/>
              <a:t>modern web dashboard built using React (Vite) and Tailwind CSS v3</a:t>
            </a:r>
            <a:r>
              <a:rPr lang="en-IN" dirty="0"/>
              <a:t>, offering an intuitive and responsive user experience. Users can interact with the AI chatbot, maintain a personal mood journal, track emotional well-being over time, visualize mood and stress analytics, explore educational resources, and access emergency support services from a single platform.</a:t>
            </a:r>
          </a:p>
          <a:p>
            <a:pPr algn="just"/>
            <a:r>
              <a:rPr lang="en-IN" b="1" dirty="0"/>
              <a:t>IBM </a:t>
            </a:r>
            <a:r>
              <a:rPr lang="en-IN" b="1" dirty="0" err="1"/>
              <a:t>LangFlow</a:t>
            </a:r>
            <a:r>
              <a:rPr lang="en-IN" dirty="0"/>
              <a:t> is used to orchestrate the workflows between different AI agents, while </a:t>
            </a:r>
            <a:r>
              <a:rPr lang="en-IN" b="1" dirty="0"/>
              <a:t>IBM Orchestrate</a:t>
            </a:r>
            <a:r>
              <a:rPr lang="en-IN" dirty="0"/>
              <a:t> manages task automation and agent collaboration. </a:t>
            </a:r>
            <a:r>
              <a:rPr lang="en-IN" b="1" dirty="0"/>
              <a:t>IBM watsonx.ai</a:t>
            </a:r>
            <a:r>
              <a:rPr lang="en-IN" dirty="0"/>
              <a:t> provides scalable model deployment, embeddings, vector search, and AI governance, and </a:t>
            </a:r>
            <a:r>
              <a:rPr lang="en-IN" b="1" dirty="0"/>
              <a:t>IBM Granite Models</a:t>
            </a:r>
            <a:r>
              <a:rPr lang="en-IN" dirty="0"/>
              <a:t> power empathetic reasoning, contextual understanding, summarization, personalization, and conversational intelligence.</a:t>
            </a:r>
          </a:p>
          <a:p>
            <a:pPr algn="just"/>
            <a:r>
              <a:rPr lang="en-IN" dirty="0"/>
              <a:t>Overall, the proposed solution delivers a secure, intelligent, and proactive mental health assistant that combines education, early detection, empathetic support, predictive analytics, and human intervention to promote mental well-being and help prevent mental health crises through responsible and trustworthy AI.</a:t>
            </a:r>
          </a:p>
          <a:p>
            <a:pPr fontAlgn="base"/>
            <a:endParaRPr lang="en-US" sz="1400" dirty="0"/>
          </a:p>
        </p:txBody>
      </p:sp>
    </p:spTree>
    <p:extLst>
      <p:ext uri="{BB962C8B-B14F-4D97-AF65-F5344CB8AC3E}">
        <p14:creationId xmlns:p14="http://schemas.microsoft.com/office/powerpoint/2010/main" val="3514148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548640" y="329184"/>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5" name="TextBox 4">
            <a:extLst>
              <a:ext uri="{FF2B5EF4-FFF2-40B4-BE49-F238E27FC236}">
                <a16:creationId xmlns:a16="http://schemas.microsoft.com/office/drawing/2014/main" id="{D8D01EC5-9D6B-35B3-AAD6-54F23D325958}"/>
              </a:ext>
            </a:extLst>
          </p:cNvPr>
          <p:cNvSpPr txBox="1"/>
          <p:nvPr/>
        </p:nvSpPr>
        <p:spPr>
          <a:xfrm>
            <a:off x="548640" y="877824"/>
            <a:ext cx="8145018" cy="5478423"/>
          </a:xfrm>
          <a:prstGeom prst="rect">
            <a:avLst/>
          </a:prstGeom>
          <a:noFill/>
        </p:spPr>
        <p:txBody>
          <a:bodyPr wrap="square">
            <a:spAutoFit/>
          </a:bodyPr>
          <a:lstStyle/>
          <a:p>
            <a:pPr>
              <a:buNone/>
            </a:pPr>
            <a:r>
              <a:rPr lang="en-IN" b="1" dirty="0"/>
              <a:t>Technology Stack Used</a:t>
            </a:r>
          </a:p>
          <a:p>
            <a:pPr>
              <a:buNone/>
            </a:pPr>
            <a:r>
              <a:rPr lang="en-IN" b="1" dirty="0"/>
              <a:t>Frontend</a:t>
            </a:r>
          </a:p>
          <a:p>
            <a:pPr>
              <a:buFont typeface="Arial" panose="020B0604020202020204" pitchFamily="34" charset="0"/>
              <a:buChar char="•"/>
            </a:pPr>
            <a:r>
              <a:rPr lang="en-IN" dirty="0"/>
              <a:t>React.js (Vite) </a:t>
            </a:r>
          </a:p>
          <a:p>
            <a:pPr>
              <a:buFont typeface="Arial" panose="020B0604020202020204" pitchFamily="34" charset="0"/>
              <a:buChar char="•"/>
            </a:pPr>
            <a:r>
              <a:rPr lang="en-IN" dirty="0"/>
              <a:t>JavaScript (ES6+) </a:t>
            </a:r>
          </a:p>
          <a:p>
            <a:pPr>
              <a:buFont typeface="Arial" panose="020B0604020202020204" pitchFamily="34" charset="0"/>
              <a:buChar char="•"/>
            </a:pPr>
            <a:r>
              <a:rPr lang="en-IN" dirty="0"/>
              <a:t>Tailwind CSS v3 </a:t>
            </a:r>
          </a:p>
          <a:p>
            <a:pPr>
              <a:buFont typeface="Arial" panose="020B0604020202020204" pitchFamily="34" charset="0"/>
              <a:buChar char="•"/>
            </a:pPr>
            <a:r>
              <a:rPr lang="en-IN" dirty="0"/>
              <a:t>React Router DOM </a:t>
            </a:r>
          </a:p>
          <a:p>
            <a:pPr>
              <a:buFont typeface="Arial" panose="020B0604020202020204" pitchFamily="34" charset="0"/>
              <a:buChar char="•"/>
            </a:pPr>
            <a:r>
              <a:rPr lang="en-IN" dirty="0"/>
              <a:t>Framer Motion (Animations) </a:t>
            </a:r>
          </a:p>
          <a:p>
            <a:pPr>
              <a:buFont typeface="Arial" panose="020B0604020202020204" pitchFamily="34" charset="0"/>
              <a:buChar char="•"/>
            </a:pPr>
            <a:r>
              <a:rPr lang="en-IN" dirty="0"/>
              <a:t>Axios (API Communication) </a:t>
            </a:r>
          </a:p>
          <a:p>
            <a:pPr>
              <a:buFont typeface="Arial" panose="020B0604020202020204" pitchFamily="34" charset="0"/>
              <a:buChar char="•"/>
            </a:pPr>
            <a:r>
              <a:rPr lang="en-IN" dirty="0"/>
              <a:t>Chart.js / Recharts (Mood &amp; Analytics Dashboard) </a:t>
            </a:r>
          </a:p>
          <a:p>
            <a:pPr>
              <a:buFont typeface="Arial" panose="020B0604020202020204" pitchFamily="34" charset="0"/>
              <a:buChar char="•"/>
            </a:pPr>
            <a:r>
              <a:rPr lang="en-IN" dirty="0"/>
              <a:t>React Icons / </a:t>
            </a:r>
            <a:r>
              <a:rPr lang="en-IN" dirty="0" err="1"/>
              <a:t>Lucide</a:t>
            </a:r>
            <a:r>
              <a:rPr lang="en-IN" dirty="0"/>
              <a:t> React </a:t>
            </a:r>
          </a:p>
          <a:p>
            <a:pPr>
              <a:buFont typeface="Arial" panose="020B0604020202020204" pitchFamily="34" charset="0"/>
              <a:buChar char="•"/>
            </a:pPr>
            <a:endParaRPr lang="en-IN" dirty="0"/>
          </a:p>
          <a:p>
            <a:pPr>
              <a:buNone/>
            </a:pPr>
            <a:r>
              <a:rPr lang="en-IN" b="1" dirty="0"/>
              <a:t>Backend</a:t>
            </a:r>
          </a:p>
          <a:p>
            <a:pPr>
              <a:buFont typeface="Arial" panose="020B0604020202020204" pitchFamily="34" charset="0"/>
              <a:buChar char="•"/>
            </a:pPr>
            <a:r>
              <a:rPr lang="en-IN" dirty="0"/>
              <a:t>Node.js </a:t>
            </a:r>
          </a:p>
          <a:p>
            <a:pPr>
              <a:buFont typeface="Arial" panose="020B0604020202020204" pitchFamily="34" charset="0"/>
              <a:buChar char="•"/>
            </a:pPr>
            <a:r>
              <a:rPr lang="en-IN" dirty="0"/>
              <a:t>Express.js </a:t>
            </a:r>
          </a:p>
          <a:p>
            <a:pPr>
              <a:buFont typeface="Arial" panose="020B0604020202020204" pitchFamily="34" charset="0"/>
              <a:buChar char="•"/>
            </a:pPr>
            <a:r>
              <a:rPr lang="en-IN" dirty="0"/>
              <a:t>RESTful APIs </a:t>
            </a:r>
          </a:p>
          <a:p>
            <a:pPr>
              <a:buFont typeface="Arial" panose="020B0604020202020204" pitchFamily="34" charset="0"/>
              <a:buChar char="•"/>
            </a:pPr>
            <a:endParaRPr lang="en-IN" dirty="0"/>
          </a:p>
          <a:p>
            <a:pPr>
              <a:buNone/>
            </a:pPr>
            <a:r>
              <a:rPr lang="en-IN" b="1" dirty="0"/>
              <a:t>AI &amp; Machine Learning</a:t>
            </a:r>
          </a:p>
          <a:p>
            <a:pPr>
              <a:buFont typeface="Arial" panose="020B0604020202020204" pitchFamily="34" charset="0"/>
              <a:buChar char="•"/>
            </a:pPr>
            <a:r>
              <a:rPr lang="en-IN" dirty="0"/>
              <a:t>IBM watsonx.ai </a:t>
            </a:r>
          </a:p>
          <a:p>
            <a:pPr>
              <a:buFont typeface="Arial" panose="020B0604020202020204" pitchFamily="34" charset="0"/>
              <a:buChar char="•"/>
            </a:pPr>
            <a:r>
              <a:rPr lang="en-IN" dirty="0"/>
              <a:t>IBM Granite Models </a:t>
            </a:r>
          </a:p>
          <a:p>
            <a:pPr>
              <a:buFont typeface="Arial" panose="020B0604020202020204" pitchFamily="34" charset="0"/>
              <a:buChar char="•"/>
            </a:pPr>
            <a:r>
              <a:rPr lang="en-IN" dirty="0"/>
              <a:t>IBM </a:t>
            </a:r>
            <a:r>
              <a:rPr lang="en-IN" dirty="0" err="1"/>
              <a:t>LangFlow</a:t>
            </a:r>
            <a:r>
              <a:rPr lang="en-IN" dirty="0"/>
              <a:t> </a:t>
            </a:r>
          </a:p>
          <a:p>
            <a:pPr>
              <a:buFont typeface="Arial" panose="020B0604020202020204" pitchFamily="34" charset="0"/>
              <a:buChar char="•"/>
            </a:pPr>
            <a:r>
              <a:rPr lang="en-IN" dirty="0"/>
              <a:t>IBM Orchestrate </a:t>
            </a:r>
          </a:p>
          <a:p>
            <a:pPr>
              <a:buFont typeface="Arial" panose="020B0604020202020204" pitchFamily="34" charset="0"/>
              <a:buChar char="•"/>
            </a:pPr>
            <a:r>
              <a:rPr lang="en-IN" dirty="0"/>
              <a:t>Retrieval-Augmented Generation (RAG) </a:t>
            </a:r>
          </a:p>
          <a:p>
            <a:pPr>
              <a:buFont typeface="Arial" panose="020B0604020202020204" pitchFamily="34" charset="0"/>
              <a:buChar char="•"/>
            </a:pPr>
            <a:r>
              <a:rPr lang="en-IN" dirty="0"/>
              <a:t>Natural Language Processing (NLP) </a:t>
            </a:r>
          </a:p>
          <a:p>
            <a:pPr>
              <a:buFont typeface="Arial" panose="020B0604020202020204" pitchFamily="34" charset="0"/>
              <a:buChar char="•"/>
            </a:pPr>
            <a:r>
              <a:rPr lang="en-IN" dirty="0"/>
              <a:t>Prompt Engineering </a:t>
            </a:r>
          </a:p>
          <a:p>
            <a:pPr>
              <a:buFont typeface="Arial" panose="020B0604020202020204" pitchFamily="34" charset="0"/>
              <a:buChar char="•"/>
            </a:pPr>
            <a:r>
              <a:rPr lang="en-IN" dirty="0"/>
              <a:t>AI Agent Architecture</a:t>
            </a:r>
          </a:p>
        </p:txBody>
      </p:sp>
    </p:spTree>
    <p:extLst>
      <p:ext uri="{BB962C8B-B14F-4D97-AF65-F5344CB8AC3E}">
        <p14:creationId xmlns:p14="http://schemas.microsoft.com/office/powerpoint/2010/main" val="3764405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3A06245-4DD5-5B88-72D9-A5E20C1661FF}"/>
              </a:ext>
            </a:extLst>
          </p:cNvPr>
          <p:cNvSpPr txBox="1"/>
          <p:nvPr/>
        </p:nvSpPr>
        <p:spPr>
          <a:xfrm>
            <a:off x="539496" y="146304"/>
            <a:ext cx="10296144" cy="5693866"/>
          </a:xfrm>
          <a:prstGeom prst="rect">
            <a:avLst/>
          </a:prstGeom>
          <a:noFill/>
        </p:spPr>
        <p:txBody>
          <a:bodyPr wrap="square">
            <a:spAutoFit/>
          </a:bodyPr>
          <a:lstStyle/>
          <a:p>
            <a:pPr>
              <a:buNone/>
            </a:pPr>
            <a:r>
              <a:rPr lang="en-IN" b="1" dirty="0"/>
              <a:t>Knowledge Retrieval (RAG)</a:t>
            </a:r>
          </a:p>
          <a:p>
            <a:pPr>
              <a:buFont typeface="Arial" panose="020B0604020202020204" pitchFamily="34" charset="0"/>
              <a:buChar char="•"/>
            </a:pPr>
            <a:r>
              <a:rPr lang="en-IN" dirty="0"/>
              <a:t>IBM </a:t>
            </a:r>
            <a:r>
              <a:rPr lang="en-IN" dirty="0" err="1"/>
              <a:t>watsonx</a:t>
            </a:r>
            <a:r>
              <a:rPr lang="en-IN" dirty="0"/>
              <a:t> Embeddings </a:t>
            </a:r>
          </a:p>
          <a:p>
            <a:pPr>
              <a:buFont typeface="Arial" panose="020B0604020202020204" pitchFamily="34" charset="0"/>
              <a:buChar char="•"/>
            </a:pPr>
            <a:r>
              <a:rPr lang="en-IN" dirty="0"/>
              <a:t>Vector Database (FAISS / </a:t>
            </a:r>
            <a:r>
              <a:rPr lang="en-IN" dirty="0" err="1"/>
              <a:t>ChromaDB</a:t>
            </a:r>
            <a:r>
              <a:rPr lang="en-IN" dirty="0"/>
              <a:t>) </a:t>
            </a:r>
          </a:p>
          <a:p>
            <a:pPr>
              <a:buFont typeface="Arial" panose="020B0604020202020204" pitchFamily="34" charset="0"/>
              <a:buChar char="•"/>
            </a:pPr>
            <a:r>
              <a:rPr lang="en-IN" dirty="0"/>
              <a:t>Semantic Search </a:t>
            </a:r>
          </a:p>
          <a:p>
            <a:pPr>
              <a:buFont typeface="Arial" panose="020B0604020202020204" pitchFamily="34" charset="0"/>
              <a:buChar char="•"/>
            </a:pPr>
            <a:r>
              <a:rPr lang="en-IN" dirty="0"/>
              <a:t>Document Embeddings </a:t>
            </a:r>
          </a:p>
          <a:p>
            <a:pPr>
              <a:buFont typeface="Arial" panose="020B0604020202020204" pitchFamily="34" charset="0"/>
              <a:buChar char="•"/>
            </a:pPr>
            <a:r>
              <a:rPr lang="en-IN" dirty="0"/>
              <a:t>Similarity Search </a:t>
            </a:r>
          </a:p>
          <a:p>
            <a:endParaRPr lang="en-IN" dirty="0"/>
          </a:p>
          <a:p>
            <a:pPr>
              <a:buNone/>
            </a:pPr>
            <a:r>
              <a:rPr lang="en-IN" b="1" dirty="0"/>
              <a:t>Database</a:t>
            </a:r>
          </a:p>
          <a:p>
            <a:pPr>
              <a:buFont typeface="Arial" panose="020B0604020202020204" pitchFamily="34" charset="0"/>
              <a:buChar char="•"/>
            </a:pPr>
            <a:r>
              <a:rPr lang="en-IN" dirty="0"/>
              <a:t>MongoDB </a:t>
            </a:r>
          </a:p>
          <a:p>
            <a:pPr>
              <a:buFont typeface="Arial" panose="020B0604020202020204" pitchFamily="34" charset="0"/>
              <a:buChar char="•"/>
            </a:pPr>
            <a:r>
              <a:rPr lang="en-IN" dirty="0"/>
              <a:t>Mongoose ODM </a:t>
            </a:r>
          </a:p>
          <a:p>
            <a:endParaRPr lang="en-IN" dirty="0"/>
          </a:p>
          <a:p>
            <a:pPr>
              <a:buNone/>
            </a:pPr>
            <a:r>
              <a:rPr lang="en-IN" b="1" dirty="0"/>
              <a:t>Authentication &amp; Security</a:t>
            </a:r>
          </a:p>
          <a:p>
            <a:pPr>
              <a:buFont typeface="Arial" panose="020B0604020202020204" pitchFamily="34" charset="0"/>
              <a:buChar char="•"/>
            </a:pPr>
            <a:r>
              <a:rPr lang="en-IN" dirty="0"/>
              <a:t>JWT (JSON Web Token) </a:t>
            </a:r>
          </a:p>
          <a:p>
            <a:pPr>
              <a:buFont typeface="Arial" panose="020B0604020202020204" pitchFamily="34" charset="0"/>
              <a:buChar char="•"/>
            </a:pPr>
            <a:r>
              <a:rPr lang="en-IN" dirty="0"/>
              <a:t>bcrypt.js </a:t>
            </a:r>
          </a:p>
          <a:p>
            <a:pPr>
              <a:buFont typeface="Arial" panose="020B0604020202020204" pitchFamily="34" charset="0"/>
              <a:buChar char="•"/>
            </a:pPr>
            <a:r>
              <a:rPr lang="en-IN" dirty="0"/>
              <a:t>Role-Based Access Control (RBAC) </a:t>
            </a:r>
          </a:p>
          <a:p>
            <a:pPr>
              <a:buFont typeface="Arial" panose="020B0604020202020204" pitchFamily="34" charset="0"/>
              <a:buChar char="•"/>
            </a:pPr>
            <a:r>
              <a:rPr lang="en-IN" dirty="0"/>
              <a:t>HTTPS </a:t>
            </a:r>
          </a:p>
          <a:p>
            <a:pPr>
              <a:buFont typeface="Arial" panose="020B0604020202020204" pitchFamily="34" charset="0"/>
              <a:buChar char="•"/>
            </a:pPr>
            <a:r>
              <a:rPr lang="en-IN" dirty="0"/>
              <a:t>Environment Variables (.env) </a:t>
            </a:r>
          </a:p>
          <a:p>
            <a:endParaRPr lang="en-IN" dirty="0"/>
          </a:p>
          <a:p>
            <a:pPr>
              <a:buNone/>
            </a:pPr>
            <a:r>
              <a:rPr lang="en-IN" b="1" dirty="0"/>
              <a:t>APIs &amp; Integrations</a:t>
            </a:r>
          </a:p>
          <a:p>
            <a:pPr>
              <a:buFont typeface="Arial" panose="020B0604020202020204" pitchFamily="34" charset="0"/>
              <a:buChar char="•"/>
            </a:pPr>
            <a:r>
              <a:rPr lang="en-IN" dirty="0"/>
              <a:t>IBM watsonx.ai API </a:t>
            </a:r>
          </a:p>
          <a:p>
            <a:pPr>
              <a:buFont typeface="Arial" panose="020B0604020202020204" pitchFamily="34" charset="0"/>
              <a:buChar char="•"/>
            </a:pPr>
            <a:r>
              <a:rPr lang="en-IN" dirty="0"/>
              <a:t>IBM Granite API </a:t>
            </a:r>
          </a:p>
          <a:p>
            <a:pPr>
              <a:buFont typeface="Arial" panose="020B0604020202020204" pitchFamily="34" charset="0"/>
              <a:buChar char="•"/>
            </a:pPr>
            <a:r>
              <a:rPr lang="en-IN" dirty="0"/>
              <a:t>IBM </a:t>
            </a:r>
            <a:r>
              <a:rPr lang="en-IN" dirty="0" err="1"/>
              <a:t>LangFlow</a:t>
            </a:r>
            <a:r>
              <a:rPr lang="en-IN" dirty="0"/>
              <a:t> API </a:t>
            </a:r>
          </a:p>
          <a:p>
            <a:pPr>
              <a:buFont typeface="Arial" panose="020B0604020202020204" pitchFamily="34" charset="0"/>
              <a:buChar char="•"/>
            </a:pPr>
            <a:r>
              <a:rPr lang="en-IN" dirty="0"/>
              <a:t>WHO Mental Health Knowledge Base </a:t>
            </a:r>
          </a:p>
          <a:p>
            <a:pPr>
              <a:buFont typeface="Arial" panose="020B0604020202020204" pitchFamily="34" charset="0"/>
              <a:buChar char="•"/>
            </a:pPr>
            <a:r>
              <a:rPr lang="en-IN" dirty="0"/>
              <a:t>NIMH Resources </a:t>
            </a:r>
          </a:p>
          <a:p>
            <a:pPr>
              <a:buFont typeface="Arial" panose="020B0604020202020204" pitchFamily="34" charset="0"/>
              <a:buChar char="•"/>
            </a:pPr>
            <a:r>
              <a:rPr lang="en-IN" dirty="0"/>
              <a:t>Crisis Helpline APIs (Optional) </a:t>
            </a:r>
          </a:p>
          <a:p>
            <a:pPr>
              <a:buFont typeface="Arial" panose="020B0604020202020204" pitchFamily="34" charset="0"/>
              <a:buChar char="•"/>
            </a:pPr>
            <a:r>
              <a:rPr lang="en-IN" dirty="0"/>
              <a:t>Google Maps API (Nearby </a:t>
            </a:r>
            <a:r>
              <a:rPr lang="en-IN" dirty="0" err="1"/>
              <a:t>Counselors</a:t>
            </a:r>
            <a:r>
              <a:rPr lang="en-IN" dirty="0"/>
              <a:t> - Optional)</a:t>
            </a:r>
          </a:p>
        </p:txBody>
      </p:sp>
    </p:spTree>
    <p:extLst>
      <p:ext uri="{BB962C8B-B14F-4D97-AF65-F5344CB8AC3E}">
        <p14:creationId xmlns:p14="http://schemas.microsoft.com/office/powerpoint/2010/main" val="1084038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22A9DA-71AC-DDDC-D3E6-E288009D9E9D}"/>
              </a:ext>
            </a:extLst>
          </p:cNvPr>
          <p:cNvSpPr txBox="1"/>
          <p:nvPr/>
        </p:nvSpPr>
        <p:spPr>
          <a:xfrm>
            <a:off x="201168" y="0"/>
            <a:ext cx="11155680" cy="6986528"/>
          </a:xfrm>
          <a:prstGeom prst="rect">
            <a:avLst/>
          </a:prstGeom>
          <a:noFill/>
        </p:spPr>
        <p:txBody>
          <a:bodyPr wrap="square">
            <a:spAutoFit/>
          </a:bodyPr>
          <a:lstStyle/>
          <a:p>
            <a:r>
              <a:rPr lang="en-IN" dirty="0"/>
              <a:t> </a:t>
            </a:r>
            <a:r>
              <a:rPr lang="en-IN" b="1" dirty="0"/>
              <a:t>Data Visualization</a:t>
            </a:r>
          </a:p>
          <a:p>
            <a:pPr>
              <a:buFont typeface="Arial" panose="020B0604020202020204" pitchFamily="34" charset="0"/>
              <a:buChar char="•"/>
            </a:pPr>
            <a:r>
              <a:rPr lang="en-IN" dirty="0"/>
              <a:t>Chart.js </a:t>
            </a:r>
          </a:p>
          <a:p>
            <a:pPr>
              <a:buFont typeface="Arial" panose="020B0604020202020204" pitchFamily="34" charset="0"/>
              <a:buChar char="•"/>
            </a:pPr>
            <a:r>
              <a:rPr lang="en-IN" dirty="0"/>
              <a:t>Recharts </a:t>
            </a:r>
          </a:p>
          <a:p>
            <a:pPr>
              <a:buFont typeface="Arial" panose="020B0604020202020204" pitchFamily="34" charset="0"/>
              <a:buChar char="•"/>
            </a:pPr>
            <a:r>
              <a:rPr lang="en-IN" dirty="0"/>
              <a:t>Progress Bars </a:t>
            </a:r>
          </a:p>
          <a:p>
            <a:pPr>
              <a:buFont typeface="Arial" panose="020B0604020202020204" pitchFamily="34" charset="0"/>
              <a:buChar char="•"/>
            </a:pPr>
            <a:r>
              <a:rPr lang="en-IN" dirty="0"/>
              <a:t>Risk Score Gauge </a:t>
            </a:r>
          </a:p>
          <a:p>
            <a:pPr>
              <a:buFont typeface="Arial" panose="020B0604020202020204" pitchFamily="34" charset="0"/>
              <a:buChar char="•"/>
            </a:pPr>
            <a:r>
              <a:rPr lang="en-IN" dirty="0"/>
              <a:t>Mood Trend Charts</a:t>
            </a:r>
          </a:p>
          <a:p>
            <a:endParaRPr lang="en-IN" dirty="0"/>
          </a:p>
          <a:p>
            <a:pPr>
              <a:buNone/>
            </a:pPr>
            <a:r>
              <a:rPr lang="en-IN" b="1" dirty="0"/>
              <a:t>Development Tools</a:t>
            </a:r>
          </a:p>
          <a:p>
            <a:pPr>
              <a:buFont typeface="Arial" panose="020B0604020202020204" pitchFamily="34" charset="0"/>
              <a:buChar char="•"/>
            </a:pPr>
            <a:r>
              <a:rPr lang="en-IN" dirty="0"/>
              <a:t>Visual Studio Code </a:t>
            </a:r>
          </a:p>
          <a:p>
            <a:pPr>
              <a:buFont typeface="Arial" panose="020B0604020202020204" pitchFamily="34" charset="0"/>
              <a:buChar char="•"/>
            </a:pPr>
            <a:r>
              <a:rPr lang="en-IN" dirty="0"/>
              <a:t>Git </a:t>
            </a:r>
          </a:p>
          <a:p>
            <a:pPr>
              <a:buFont typeface="Arial" panose="020B0604020202020204" pitchFamily="34" charset="0"/>
              <a:buChar char="•"/>
            </a:pPr>
            <a:r>
              <a:rPr lang="en-IN" dirty="0"/>
              <a:t>GitHub </a:t>
            </a:r>
          </a:p>
          <a:p>
            <a:pPr>
              <a:buFont typeface="Arial" panose="020B0604020202020204" pitchFamily="34" charset="0"/>
              <a:buChar char="•"/>
            </a:pPr>
            <a:r>
              <a:rPr lang="en-IN" dirty="0" err="1"/>
              <a:t>npm</a:t>
            </a:r>
            <a:r>
              <a:rPr lang="en-IN" dirty="0"/>
              <a:t> </a:t>
            </a:r>
          </a:p>
          <a:p>
            <a:pPr>
              <a:buFont typeface="Arial" panose="020B0604020202020204" pitchFamily="34" charset="0"/>
              <a:buChar char="•"/>
            </a:pPr>
            <a:r>
              <a:rPr lang="en-IN" dirty="0"/>
              <a:t>Postman </a:t>
            </a:r>
          </a:p>
          <a:p>
            <a:endParaRPr lang="en-IN" dirty="0"/>
          </a:p>
          <a:p>
            <a:pPr>
              <a:buNone/>
            </a:pPr>
            <a:r>
              <a:rPr lang="en-IN" b="1" dirty="0"/>
              <a:t>Deployment</a:t>
            </a:r>
          </a:p>
          <a:p>
            <a:pPr>
              <a:buFont typeface="Arial" panose="020B0604020202020204" pitchFamily="34" charset="0"/>
              <a:buChar char="•"/>
            </a:pPr>
            <a:r>
              <a:rPr lang="en-IN" dirty="0" err="1"/>
              <a:t>Vercel</a:t>
            </a:r>
            <a:r>
              <a:rPr lang="en-IN" dirty="0"/>
              <a:t> (Frontend) </a:t>
            </a:r>
          </a:p>
          <a:p>
            <a:pPr>
              <a:buFont typeface="Arial" panose="020B0604020202020204" pitchFamily="34" charset="0"/>
              <a:buChar char="•"/>
            </a:pPr>
            <a:r>
              <a:rPr lang="en-IN" dirty="0"/>
              <a:t>Render / Railway (Backend) </a:t>
            </a:r>
          </a:p>
          <a:p>
            <a:pPr>
              <a:buFont typeface="Arial" panose="020B0604020202020204" pitchFamily="34" charset="0"/>
              <a:buChar char="•"/>
            </a:pPr>
            <a:r>
              <a:rPr lang="en-IN" dirty="0"/>
              <a:t>MongoDB Atlas (Cloud Database) </a:t>
            </a:r>
          </a:p>
          <a:p>
            <a:endParaRPr lang="en-IN" dirty="0"/>
          </a:p>
          <a:p>
            <a:pPr>
              <a:buNone/>
            </a:pPr>
            <a:r>
              <a:rPr lang="en-IN" b="1" dirty="0"/>
              <a:t>AI Features</a:t>
            </a:r>
          </a:p>
          <a:p>
            <a:pPr>
              <a:buFont typeface="Arial" panose="020B0604020202020204" pitchFamily="34" charset="0"/>
              <a:buChar char="•"/>
            </a:pPr>
            <a:r>
              <a:rPr lang="en-IN" dirty="0"/>
              <a:t>Empathetic Conversational AI </a:t>
            </a:r>
          </a:p>
          <a:p>
            <a:pPr>
              <a:buFont typeface="Arial" panose="020B0604020202020204" pitchFamily="34" charset="0"/>
              <a:buChar char="•"/>
            </a:pPr>
            <a:r>
              <a:rPr lang="en-IN" dirty="0"/>
              <a:t>Emotion Detection </a:t>
            </a:r>
          </a:p>
          <a:p>
            <a:pPr>
              <a:buFont typeface="Arial" panose="020B0604020202020204" pitchFamily="34" charset="0"/>
              <a:buChar char="•"/>
            </a:pPr>
            <a:r>
              <a:rPr lang="en-IN" dirty="0"/>
              <a:t>Sentiment Analysis </a:t>
            </a:r>
          </a:p>
          <a:p>
            <a:pPr>
              <a:buFont typeface="Arial" panose="020B0604020202020204" pitchFamily="34" charset="0"/>
              <a:buChar char="•"/>
            </a:pPr>
            <a:r>
              <a:rPr lang="en-IN" dirty="0"/>
              <a:t>Suicide Risk Detection </a:t>
            </a:r>
          </a:p>
          <a:p>
            <a:pPr>
              <a:buFont typeface="Arial" panose="020B0604020202020204" pitchFamily="34" charset="0"/>
              <a:buChar char="•"/>
            </a:pPr>
            <a:r>
              <a:rPr lang="en-IN" dirty="0"/>
              <a:t>Stress Prediction </a:t>
            </a:r>
          </a:p>
          <a:p>
            <a:pPr>
              <a:buFont typeface="Arial" panose="020B0604020202020204" pitchFamily="34" charset="0"/>
              <a:buChar char="•"/>
            </a:pPr>
            <a:r>
              <a:rPr lang="en-IN" dirty="0"/>
              <a:t>Personalized Wellness Recommendations </a:t>
            </a:r>
          </a:p>
          <a:p>
            <a:pPr>
              <a:buFont typeface="Arial" panose="020B0604020202020204" pitchFamily="34" charset="0"/>
              <a:buChar char="•"/>
            </a:pPr>
            <a:r>
              <a:rPr lang="en-IN" dirty="0"/>
              <a:t>Conversation Memory </a:t>
            </a:r>
          </a:p>
          <a:p>
            <a:pPr>
              <a:buFont typeface="Arial" panose="020B0604020202020204" pitchFamily="34" charset="0"/>
              <a:buChar char="•"/>
            </a:pPr>
            <a:r>
              <a:rPr lang="en-IN" dirty="0"/>
              <a:t>Mood Tracking </a:t>
            </a:r>
          </a:p>
          <a:p>
            <a:pPr>
              <a:buFont typeface="Arial" panose="020B0604020202020204" pitchFamily="34" charset="0"/>
              <a:buChar char="•"/>
            </a:pPr>
            <a:r>
              <a:rPr lang="en-IN" dirty="0"/>
              <a:t>AI-Powered Journaling </a:t>
            </a:r>
          </a:p>
          <a:p>
            <a:pPr>
              <a:buFont typeface="Arial" panose="020B0604020202020204" pitchFamily="34" charset="0"/>
              <a:buChar char="•"/>
            </a:pPr>
            <a:r>
              <a:rPr lang="en-IN" dirty="0"/>
              <a:t>Crisis Alert System </a:t>
            </a:r>
          </a:p>
          <a:p>
            <a:pPr>
              <a:buFont typeface="Arial" panose="020B0604020202020204" pitchFamily="34" charset="0"/>
              <a:buChar char="•"/>
            </a:pPr>
            <a:r>
              <a:rPr lang="en-IN" dirty="0"/>
              <a:t>Human Support Escalation </a:t>
            </a:r>
          </a:p>
        </p:txBody>
      </p:sp>
    </p:spTree>
    <p:extLst>
      <p:ext uri="{BB962C8B-B14F-4D97-AF65-F5344CB8AC3E}">
        <p14:creationId xmlns:p14="http://schemas.microsoft.com/office/powerpoint/2010/main" val="1557957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DA5E15-D45C-3055-03C0-701BB02A772C}"/>
              </a:ext>
            </a:extLst>
          </p:cNvPr>
          <p:cNvSpPr txBox="1"/>
          <p:nvPr/>
        </p:nvSpPr>
        <p:spPr>
          <a:xfrm>
            <a:off x="448056" y="329184"/>
            <a:ext cx="8693658" cy="3539430"/>
          </a:xfrm>
          <a:prstGeom prst="rect">
            <a:avLst/>
          </a:prstGeom>
          <a:noFill/>
        </p:spPr>
        <p:txBody>
          <a:bodyPr wrap="square">
            <a:spAutoFit/>
          </a:bodyPr>
          <a:lstStyle/>
          <a:p>
            <a:pPr>
              <a:buNone/>
            </a:pPr>
            <a:r>
              <a:rPr lang="en-IN" b="1" dirty="0"/>
              <a:t>UI/UX Technologies</a:t>
            </a:r>
          </a:p>
          <a:p>
            <a:pPr>
              <a:buFont typeface="Arial" panose="020B0604020202020204" pitchFamily="34" charset="0"/>
              <a:buChar char="•"/>
            </a:pPr>
            <a:r>
              <a:rPr lang="en-IN" dirty="0"/>
              <a:t>Responsive Design </a:t>
            </a:r>
          </a:p>
          <a:p>
            <a:pPr>
              <a:buFont typeface="Arial" panose="020B0604020202020204" pitchFamily="34" charset="0"/>
              <a:buChar char="•"/>
            </a:pPr>
            <a:r>
              <a:rPr lang="en-IN" dirty="0"/>
              <a:t>Dark/Light Mode </a:t>
            </a:r>
          </a:p>
          <a:p>
            <a:pPr>
              <a:buFont typeface="Arial" panose="020B0604020202020204" pitchFamily="34" charset="0"/>
              <a:buChar char="•"/>
            </a:pPr>
            <a:r>
              <a:rPr lang="en-IN" dirty="0" err="1"/>
              <a:t>Glassmorphism</a:t>
            </a:r>
            <a:r>
              <a:rPr lang="en-IN" dirty="0"/>
              <a:t> UI </a:t>
            </a:r>
          </a:p>
          <a:p>
            <a:pPr>
              <a:buFont typeface="Arial" panose="020B0604020202020204" pitchFamily="34" charset="0"/>
              <a:buChar char="•"/>
            </a:pPr>
            <a:r>
              <a:rPr lang="en-IN" dirty="0"/>
              <a:t>Modern Dashboard </a:t>
            </a:r>
          </a:p>
          <a:p>
            <a:pPr>
              <a:buFont typeface="Arial" panose="020B0604020202020204" pitchFamily="34" charset="0"/>
              <a:buChar char="•"/>
            </a:pPr>
            <a:r>
              <a:rPr lang="en-IN" dirty="0"/>
              <a:t>Mobile-First Design </a:t>
            </a:r>
          </a:p>
          <a:p>
            <a:pPr>
              <a:buFont typeface="Arial" panose="020B0604020202020204" pitchFamily="34" charset="0"/>
              <a:buChar char="•"/>
            </a:pPr>
            <a:r>
              <a:rPr lang="en-IN" dirty="0"/>
              <a:t>Accessibility (WCAG Guidelines) </a:t>
            </a:r>
          </a:p>
          <a:p>
            <a:endParaRPr lang="en-IN" dirty="0"/>
          </a:p>
          <a:p>
            <a:pPr>
              <a:buNone/>
            </a:pPr>
            <a:r>
              <a:rPr lang="en-IN" sz="1400" b="1" dirty="0"/>
              <a:t>External Knowledge Sources (RAG)</a:t>
            </a:r>
          </a:p>
          <a:p>
            <a:pPr>
              <a:buFont typeface="Arial" panose="020B0604020202020204" pitchFamily="34" charset="0"/>
              <a:buChar char="•"/>
            </a:pPr>
            <a:r>
              <a:rPr lang="en-IN" sz="1400" dirty="0"/>
              <a:t>World Health Organization (WHO) </a:t>
            </a:r>
          </a:p>
          <a:p>
            <a:pPr>
              <a:buFont typeface="Arial" panose="020B0604020202020204" pitchFamily="34" charset="0"/>
              <a:buChar char="•"/>
            </a:pPr>
            <a:r>
              <a:rPr lang="en-IN" sz="1400" dirty="0"/>
              <a:t>National Institute of Mental Health (NIMH) </a:t>
            </a:r>
          </a:p>
          <a:p>
            <a:pPr>
              <a:buFont typeface="Arial" panose="020B0604020202020204" pitchFamily="34" charset="0"/>
              <a:buChar char="•"/>
            </a:pPr>
            <a:r>
              <a:rPr lang="en-IN" sz="1400" dirty="0"/>
              <a:t>Evidence-Based Mental Health Resources </a:t>
            </a:r>
          </a:p>
          <a:p>
            <a:pPr>
              <a:buFont typeface="Arial" panose="020B0604020202020204" pitchFamily="34" charset="0"/>
              <a:buChar char="•"/>
            </a:pPr>
            <a:r>
              <a:rPr lang="en-IN" sz="1400" dirty="0"/>
              <a:t>Government Mental Health Guidelines </a:t>
            </a:r>
          </a:p>
          <a:p>
            <a:pPr>
              <a:buNone/>
            </a:pPr>
            <a:r>
              <a:rPr lang="en-IN" sz="1400" b="1" dirty="0"/>
              <a:t>Version Control</a:t>
            </a:r>
          </a:p>
          <a:p>
            <a:pPr>
              <a:buFont typeface="Arial" panose="020B0604020202020204" pitchFamily="34" charset="0"/>
              <a:buChar char="•"/>
            </a:pPr>
            <a:r>
              <a:rPr lang="en-IN" sz="1400" dirty="0"/>
              <a:t>Git </a:t>
            </a:r>
          </a:p>
          <a:p>
            <a:pPr>
              <a:buFont typeface="Arial" panose="020B0604020202020204" pitchFamily="34" charset="0"/>
              <a:buChar char="•"/>
            </a:pPr>
            <a:r>
              <a:rPr lang="en-IN" sz="1400" dirty="0"/>
              <a:t>GitHub</a:t>
            </a:r>
            <a:endParaRPr lang="en-IN" dirty="0"/>
          </a:p>
        </p:txBody>
      </p:sp>
    </p:spTree>
    <p:extLst>
      <p:ext uri="{BB962C8B-B14F-4D97-AF65-F5344CB8AC3E}">
        <p14:creationId xmlns:p14="http://schemas.microsoft.com/office/powerpoint/2010/main" val="2450848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308940" y="89099"/>
            <a:ext cx="5881547" cy="454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96988" y="7091173"/>
            <a:ext cx="3089813" cy="740918"/>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86383" y="7091173"/>
            <a:ext cx="3089813" cy="740918"/>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1" name="TextBox 20">
            <a:extLst>
              <a:ext uri="{FF2B5EF4-FFF2-40B4-BE49-F238E27FC236}">
                <a16:creationId xmlns:a16="http://schemas.microsoft.com/office/drawing/2014/main" id="{0A0E33B6-EC23-981E-7E90-0467DFDB65DD}"/>
              </a:ext>
            </a:extLst>
          </p:cNvPr>
          <p:cNvSpPr txBox="1"/>
          <p:nvPr/>
        </p:nvSpPr>
        <p:spPr>
          <a:xfrm>
            <a:off x="308940" y="795528"/>
            <a:ext cx="9328836" cy="5078313"/>
          </a:xfrm>
          <a:prstGeom prst="rect">
            <a:avLst/>
          </a:prstGeom>
          <a:noFill/>
        </p:spPr>
        <p:txBody>
          <a:bodyPr wrap="square">
            <a:spAutoFit/>
          </a:bodyPr>
          <a:lstStyle/>
          <a:p>
            <a:r>
              <a:rPr lang="en-IN" sz="1800" b="1" dirty="0"/>
              <a:t>Chat Input</a:t>
            </a:r>
            <a:r>
              <a:rPr lang="en-IN" sz="1800" dirty="0"/>
              <a:t> – Receives user messages, journal entries, and mood updates. </a:t>
            </a:r>
          </a:p>
          <a:p>
            <a:r>
              <a:rPr lang="en-IN" sz="1800" b="1" dirty="0"/>
              <a:t>Prompt Template</a:t>
            </a:r>
            <a:r>
              <a:rPr lang="en-IN" sz="1800" dirty="0"/>
              <a:t> – Creates structured prompts for empathetic AI responses. </a:t>
            </a:r>
          </a:p>
          <a:p>
            <a:r>
              <a:rPr lang="en-IN" sz="1800" b="1" dirty="0"/>
              <a:t>IBM Granite Model</a:t>
            </a:r>
            <a:r>
              <a:rPr lang="en-IN" sz="1800" dirty="0"/>
              <a:t> – Generates contextual, empathetic, and personalized responses.</a:t>
            </a:r>
          </a:p>
          <a:p>
            <a:r>
              <a:rPr lang="en-IN" sz="1800" b="1" dirty="0"/>
              <a:t>Embeddings Model</a:t>
            </a:r>
            <a:r>
              <a:rPr lang="en-IN" sz="1800" dirty="0"/>
              <a:t> – Converts documents and user inputs into vector embeddings for semantic search. </a:t>
            </a:r>
          </a:p>
          <a:p>
            <a:r>
              <a:rPr lang="en-IN" sz="1800" b="1" dirty="0"/>
              <a:t>Vector Store (FAISS/</a:t>
            </a:r>
            <a:r>
              <a:rPr lang="en-IN" sz="1800" b="1" dirty="0" err="1"/>
              <a:t>ChromaDB</a:t>
            </a:r>
            <a:r>
              <a:rPr lang="en-IN" sz="1800" b="1" dirty="0"/>
              <a:t>)</a:t>
            </a:r>
            <a:r>
              <a:rPr lang="en-IN" sz="1800" dirty="0"/>
              <a:t> – Stores and retrieves embedded mental health knowledge. </a:t>
            </a:r>
          </a:p>
          <a:p>
            <a:r>
              <a:rPr lang="en-IN" sz="1800" b="1" dirty="0"/>
              <a:t>Retriever (RAG)</a:t>
            </a:r>
            <a:r>
              <a:rPr lang="en-IN" sz="1800" dirty="0"/>
              <a:t> – Fetches the most relevant information from the knowledge base before generating responses. </a:t>
            </a:r>
          </a:p>
          <a:p>
            <a:r>
              <a:rPr lang="en-IN" sz="1800" b="1" dirty="0"/>
              <a:t>Agent</a:t>
            </a:r>
            <a:r>
              <a:rPr lang="en-IN" sz="1800" dirty="0"/>
              <a:t> – Coordinates reasoning, decision-making, and execution of tasks between components. </a:t>
            </a:r>
          </a:p>
          <a:p>
            <a:r>
              <a:rPr lang="en-IN" sz="1800" b="1" dirty="0"/>
              <a:t>Memory</a:t>
            </a:r>
            <a:r>
              <a:rPr lang="en-IN" sz="1800" dirty="0"/>
              <a:t> – Maintains conversation history to provide context-aware responses. </a:t>
            </a:r>
          </a:p>
          <a:p>
            <a:r>
              <a:rPr lang="en-IN" sz="1800" b="1" dirty="0"/>
              <a:t>Conditional Router</a:t>
            </a:r>
            <a:r>
              <a:rPr lang="en-IN" sz="1800" dirty="0"/>
              <a:t> – Detects crisis or high-risk conversations and routes them to emergency support workflows. </a:t>
            </a:r>
          </a:p>
          <a:p>
            <a:r>
              <a:rPr lang="en-IN" sz="1800" b="1" dirty="0"/>
              <a:t>Output Parser</a:t>
            </a:r>
            <a:r>
              <a:rPr lang="en-IN" sz="1800" dirty="0"/>
              <a:t> – Formats AI responses before displaying them to the user. </a:t>
            </a:r>
          </a:p>
          <a:p>
            <a:r>
              <a:rPr lang="en-IN" sz="1800" b="1" dirty="0"/>
              <a:t>HTTP/API Request</a:t>
            </a:r>
            <a:r>
              <a:rPr lang="en-IN" sz="1800" dirty="0"/>
              <a:t> – Connects </a:t>
            </a:r>
            <a:r>
              <a:rPr lang="en-IN" sz="1800" dirty="0" err="1"/>
              <a:t>Langflow</a:t>
            </a:r>
            <a:r>
              <a:rPr lang="en-IN" sz="1800" dirty="0"/>
              <a:t> with the React frontend and external services. </a:t>
            </a:r>
          </a:p>
          <a:p>
            <a:r>
              <a:rPr lang="en-IN" sz="1800" b="1" dirty="0"/>
              <a:t>Tool Node</a:t>
            </a:r>
            <a:r>
              <a:rPr lang="en-IN" sz="1800" dirty="0"/>
              <a:t> – Integrates external resources such as helplines, mental health knowledge bases, and emergency services.</a:t>
            </a:r>
          </a:p>
        </p:txBody>
      </p:sp>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55878" y="256032"/>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7" name="Picture 6">
            <a:extLst>
              <a:ext uri="{FF2B5EF4-FFF2-40B4-BE49-F238E27FC236}">
                <a16:creationId xmlns:a16="http://schemas.microsoft.com/office/drawing/2014/main" id="{A6689013-B90F-C112-B7DD-1E998FDC86D1}"/>
              </a:ext>
            </a:extLst>
          </p:cNvPr>
          <p:cNvPicPr>
            <a:picLocks noChangeAspect="1"/>
          </p:cNvPicPr>
          <p:nvPr/>
        </p:nvPicPr>
        <p:blipFill>
          <a:blip r:embed="rId3"/>
          <a:stretch>
            <a:fillRect/>
          </a:stretch>
        </p:blipFill>
        <p:spPr>
          <a:xfrm>
            <a:off x="923543" y="1096852"/>
            <a:ext cx="7508367" cy="550511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5" name="Picture 4">
            <a:extLst>
              <a:ext uri="{FF2B5EF4-FFF2-40B4-BE49-F238E27FC236}">
                <a16:creationId xmlns:a16="http://schemas.microsoft.com/office/drawing/2014/main" id="{151899E5-B809-EB42-8258-9FD6AFD671C3}"/>
              </a:ext>
            </a:extLst>
          </p:cNvPr>
          <p:cNvPicPr>
            <a:picLocks noChangeAspect="1"/>
          </p:cNvPicPr>
          <p:nvPr/>
        </p:nvPicPr>
        <p:blipFill>
          <a:blip r:embed="rId3"/>
          <a:stretch>
            <a:fillRect/>
          </a:stretch>
        </p:blipFill>
        <p:spPr>
          <a:xfrm>
            <a:off x="952500" y="831919"/>
            <a:ext cx="10020300" cy="552316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902337"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978408"/>
            <a:ext cx="8074152" cy="5478423"/>
          </a:xfrm>
          <a:prstGeom prst="rect">
            <a:avLst/>
          </a:prstGeom>
          <a:noFill/>
        </p:spPr>
        <p:txBody>
          <a:bodyPr wrap="square" rtlCol="0">
            <a:spAutoFit/>
          </a:bodyPr>
          <a:lstStyle/>
          <a:p>
            <a:r>
              <a:rPr lang="en-IN" b="1" dirty="0"/>
              <a:t>Agentic AI</a:t>
            </a:r>
            <a:r>
              <a:rPr lang="en-IN" dirty="0"/>
              <a:t> serves as the intelligent core of the </a:t>
            </a:r>
            <a:r>
              <a:rPr lang="en-IN" b="1" dirty="0" err="1"/>
              <a:t>MindGuard</a:t>
            </a:r>
            <a:r>
              <a:rPr lang="en-IN" b="1" dirty="0"/>
              <a:t> AI – Mental Health Awareness &amp; Suicide Prevention Platform</a:t>
            </a:r>
            <a:r>
              <a:rPr lang="en-IN" dirty="0"/>
              <a:t>. Unlike a traditional chatbot that only answers questions, Agentic AI is designed to </a:t>
            </a:r>
            <a:r>
              <a:rPr lang="en-IN" b="1" dirty="0"/>
              <a:t>understand user context, reason across multiple tasks, collaborate with specialized AI agents, and take proactive actions</a:t>
            </a:r>
            <a:r>
              <a:rPr lang="en-IN" dirty="0"/>
              <a:t> while prioritizing user safety, privacy, and well-being.</a:t>
            </a:r>
          </a:p>
          <a:p>
            <a:r>
              <a:rPr lang="en-IN" dirty="0"/>
              <a:t>The platform uses </a:t>
            </a:r>
            <a:r>
              <a:rPr lang="en-IN" b="1" dirty="0"/>
              <a:t>IBM </a:t>
            </a:r>
            <a:r>
              <a:rPr lang="en-IN" b="1" dirty="0" err="1"/>
              <a:t>LangFlow</a:t>
            </a:r>
            <a:r>
              <a:rPr lang="en-IN" dirty="0"/>
              <a:t>, </a:t>
            </a:r>
            <a:r>
              <a:rPr lang="en-IN" b="1" dirty="0"/>
              <a:t>IBM Orchestrate</a:t>
            </a:r>
            <a:r>
              <a:rPr lang="en-IN" dirty="0"/>
              <a:t>, </a:t>
            </a:r>
            <a:r>
              <a:rPr lang="en-IN" b="1" dirty="0"/>
              <a:t>IBM watsonx.ai</a:t>
            </a:r>
            <a:r>
              <a:rPr lang="en-IN" dirty="0"/>
              <a:t>, and </a:t>
            </a:r>
            <a:r>
              <a:rPr lang="en-IN" b="1" dirty="0"/>
              <a:t>IBM Granite Models</a:t>
            </a:r>
            <a:r>
              <a:rPr lang="en-IN" dirty="0"/>
              <a:t> to coordinate multiple AI agents that work together to deliver personalized, empathetic, and timely mental health support.</a:t>
            </a:r>
          </a:p>
          <a:p>
            <a:r>
              <a:rPr lang="en-IN" b="1" dirty="0"/>
              <a:t>Roles of Agentic AI</a:t>
            </a:r>
          </a:p>
          <a:p>
            <a:r>
              <a:rPr lang="en-IN" b="1" dirty="0"/>
              <a:t>1. Mental Health Awareness &amp; Education</a:t>
            </a:r>
            <a:endParaRPr lang="en-IN" dirty="0"/>
          </a:p>
          <a:p>
            <a:r>
              <a:rPr lang="en-IN" dirty="0"/>
              <a:t>Provides reliable information about mental health, stress, anxiety, depression, mindfulness, and self-care. </a:t>
            </a:r>
          </a:p>
          <a:p>
            <a:r>
              <a:rPr lang="en-IN" dirty="0"/>
              <a:t>Recommends evidence-based articles, meditation techniques, breathing exercises, and wellness resources. </a:t>
            </a:r>
          </a:p>
          <a:p>
            <a:r>
              <a:rPr lang="en-IN" dirty="0"/>
              <a:t>Promotes awareness to reduce stigma surrounding mental health. </a:t>
            </a:r>
          </a:p>
          <a:p>
            <a:r>
              <a:rPr lang="en-IN" b="1" dirty="0"/>
              <a:t>2. Early Detection of Emotional Distress</a:t>
            </a:r>
            <a:endParaRPr lang="en-IN" dirty="0"/>
          </a:p>
          <a:p>
            <a:r>
              <a:rPr lang="en-IN" dirty="0" err="1"/>
              <a:t>Analyzes</a:t>
            </a:r>
            <a:r>
              <a:rPr lang="en-IN" dirty="0"/>
              <a:t> conversations, journal entries, and mood logs using </a:t>
            </a:r>
            <a:r>
              <a:rPr lang="en-IN" b="1" dirty="0"/>
              <a:t>Retrieval-Augmented Generation (RAG)</a:t>
            </a:r>
            <a:r>
              <a:rPr lang="en-IN" dirty="0"/>
              <a:t>. </a:t>
            </a:r>
          </a:p>
          <a:p>
            <a:r>
              <a:rPr lang="en-IN" dirty="0"/>
              <a:t>Identifies patterns that may indicate stress, anxiety, burnout, depression, or suicidal thoughts. </a:t>
            </a:r>
          </a:p>
          <a:p>
            <a:r>
              <a:rPr lang="en-IN" dirty="0"/>
              <a:t>Continuously monitors emotional trends while respecting user consent and privacy. </a:t>
            </a:r>
          </a:p>
          <a:p>
            <a:r>
              <a:rPr lang="en-IN" b="1" dirty="0"/>
              <a:t>3. Empathetic Conversational Support</a:t>
            </a:r>
            <a:endParaRPr lang="en-IN" dirty="0"/>
          </a:p>
          <a:p>
            <a:r>
              <a:rPr lang="en-IN" dirty="0"/>
              <a:t>Engages users in compassionate, human-like conversations. </a:t>
            </a:r>
          </a:p>
          <a:p>
            <a:r>
              <a:rPr lang="en-IN" dirty="0"/>
              <a:t>Listens actively and responds with empathy, encouragement, and coping strategies. </a:t>
            </a:r>
          </a:p>
          <a:p>
            <a:r>
              <a:rPr lang="en-IN" dirty="0"/>
              <a:t>Clearly informs users that the AI is </a:t>
            </a:r>
            <a:r>
              <a:rPr lang="en-IN" b="1" dirty="0"/>
              <a:t>not a substitute for professional medical advice or licensed mental health care</a:t>
            </a:r>
            <a:r>
              <a:rPr lang="en-IN"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D520E6-381E-5668-8003-66A4F5263242}"/>
              </a:ext>
            </a:extLst>
          </p:cNvPr>
          <p:cNvSpPr txBox="1"/>
          <p:nvPr/>
        </p:nvSpPr>
        <p:spPr>
          <a:xfrm>
            <a:off x="320040" y="137161"/>
            <a:ext cx="11567160" cy="5262979"/>
          </a:xfrm>
          <a:prstGeom prst="rect">
            <a:avLst/>
          </a:prstGeom>
          <a:noFill/>
        </p:spPr>
        <p:txBody>
          <a:bodyPr wrap="square">
            <a:spAutoFit/>
          </a:bodyPr>
          <a:lstStyle/>
          <a:p>
            <a:r>
              <a:rPr lang="en-IN" sz="1400" b="1" dirty="0"/>
              <a:t>4. Intelligent Decision-Making</a:t>
            </a:r>
            <a:endParaRPr lang="en-IN" sz="1400" dirty="0"/>
          </a:p>
          <a:p>
            <a:r>
              <a:rPr lang="en-IN" sz="1400" dirty="0"/>
              <a:t>Coordinates multiple specialized AI agents through </a:t>
            </a:r>
            <a:r>
              <a:rPr lang="en-IN" sz="1400" b="1" dirty="0"/>
              <a:t>IBM </a:t>
            </a:r>
            <a:r>
              <a:rPr lang="en-IN" sz="1400" b="1" dirty="0" err="1"/>
              <a:t>LangFlow</a:t>
            </a:r>
            <a:r>
              <a:rPr lang="en-IN" sz="1400" dirty="0"/>
              <a:t> and </a:t>
            </a:r>
            <a:r>
              <a:rPr lang="en-IN" sz="1400" b="1" dirty="0"/>
              <a:t>IBM Orchestrate</a:t>
            </a:r>
            <a:r>
              <a:rPr lang="en-IN" sz="1400" dirty="0"/>
              <a:t>. </a:t>
            </a:r>
          </a:p>
          <a:p>
            <a:r>
              <a:rPr lang="en-IN" sz="1400" dirty="0"/>
              <a:t>Selects the most appropriate workflow based on the user's emotional state and needs. </a:t>
            </a:r>
          </a:p>
          <a:p>
            <a:r>
              <a:rPr lang="en-IN" sz="1400" dirty="0"/>
              <a:t>Combines retrieved knowledge with contextual reasoning to provide accurate and personalized responses. </a:t>
            </a:r>
          </a:p>
          <a:p>
            <a:r>
              <a:rPr lang="en-IN" sz="1400" b="1" dirty="0"/>
              <a:t>5. Personalized Recommendations</a:t>
            </a:r>
            <a:endParaRPr lang="en-IN" sz="1400" dirty="0"/>
          </a:p>
          <a:p>
            <a:r>
              <a:rPr lang="en-IN" sz="1400" dirty="0"/>
              <a:t>Generates customized wellness plans based on the user's mood history, stress levels, sleep patterns, and personal preferences. </a:t>
            </a:r>
          </a:p>
          <a:p>
            <a:r>
              <a:rPr lang="en-IN" sz="1400" dirty="0"/>
              <a:t>Suggests mindfulness exercises, journaling prompts, relaxation techniques, and healthy lifestyle practices. </a:t>
            </a:r>
          </a:p>
          <a:p>
            <a:r>
              <a:rPr lang="en-IN" sz="1400" b="1" dirty="0"/>
              <a:t>6. Risk Prediction &amp; Preventive Care</a:t>
            </a:r>
            <a:endParaRPr lang="en-IN" sz="1400" dirty="0"/>
          </a:p>
          <a:p>
            <a:r>
              <a:rPr lang="en-IN" sz="1400" dirty="0"/>
              <a:t>Forecasts potential stress peaks and emotional deterioration using historical mood and </a:t>
            </a:r>
            <a:r>
              <a:rPr lang="en-IN" sz="1400" dirty="0" err="1"/>
              <a:t>behavioral</a:t>
            </a:r>
            <a:r>
              <a:rPr lang="en-IN" sz="1400" dirty="0"/>
              <a:t> data. </a:t>
            </a:r>
          </a:p>
          <a:p>
            <a:r>
              <a:rPr lang="en-IN" sz="1400" dirty="0"/>
              <a:t>Recommends preventive actions before a crisis occurs. </a:t>
            </a:r>
          </a:p>
          <a:p>
            <a:r>
              <a:rPr lang="en-IN" sz="1400" dirty="0"/>
              <a:t>Sends wellness reminders and self-care suggestions to encourage healthy habits. </a:t>
            </a:r>
          </a:p>
          <a:p>
            <a:r>
              <a:rPr lang="en-IN" sz="1400" b="1" dirty="0"/>
              <a:t>7. Crisis Detection &amp; Human Intervention</a:t>
            </a:r>
            <a:endParaRPr lang="en-IN" sz="1400" dirty="0"/>
          </a:p>
          <a:p>
            <a:r>
              <a:rPr lang="en-IN" sz="1400" dirty="0"/>
              <a:t>Detects high-risk conversations containing signs of self-harm or suicidal ideation. </a:t>
            </a:r>
          </a:p>
          <a:p>
            <a:r>
              <a:rPr lang="en-IN" sz="1400" dirty="0"/>
              <a:t>Immediately provides verified crisis helpline information, nearby </a:t>
            </a:r>
            <a:r>
              <a:rPr lang="en-IN" sz="1400" dirty="0" err="1"/>
              <a:t>counseling</a:t>
            </a:r>
            <a:r>
              <a:rPr lang="en-IN" sz="1400" dirty="0"/>
              <a:t> services, and emergency resources. </a:t>
            </a:r>
          </a:p>
          <a:p>
            <a:r>
              <a:rPr lang="en-IN" sz="1400" dirty="0"/>
              <a:t>With the user's consent, assists in notifying trusted contacts or mental health professionals for timely intervention. </a:t>
            </a:r>
          </a:p>
          <a:p>
            <a:r>
              <a:rPr lang="en-IN" sz="1400" b="1" dirty="0"/>
              <a:t>8. Continuous Learning through RAG</a:t>
            </a:r>
            <a:endParaRPr lang="en-IN" sz="1400" dirty="0"/>
          </a:p>
          <a:p>
            <a:r>
              <a:rPr lang="en-IN" sz="1400" dirty="0"/>
              <a:t>Retrieves the latest evidence-based mental health information from trusted sources such as </a:t>
            </a:r>
            <a:r>
              <a:rPr lang="en-IN" sz="1400" b="1" dirty="0"/>
              <a:t>WHO</a:t>
            </a:r>
            <a:r>
              <a:rPr lang="en-IN" sz="1400" dirty="0"/>
              <a:t>, </a:t>
            </a:r>
            <a:r>
              <a:rPr lang="en-IN" sz="1400" b="1" dirty="0"/>
              <a:t>NIMH</a:t>
            </a:r>
            <a:r>
              <a:rPr lang="en-IN" sz="1400" dirty="0"/>
              <a:t>, and government mental health guidelines. </a:t>
            </a:r>
          </a:p>
          <a:p>
            <a:r>
              <a:rPr lang="en-IN" sz="1400" dirty="0"/>
              <a:t>Generates responses grounded in verified knowledge rather than relying solely on the language model's internal knowledge. </a:t>
            </a:r>
          </a:p>
          <a:p>
            <a:r>
              <a:rPr lang="en-IN" sz="1400" dirty="0"/>
              <a:t>Improves response accuracy, transparency, and reliability. </a:t>
            </a:r>
          </a:p>
          <a:p>
            <a:r>
              <a:rPr lang="en-IN" sz="1400" b="1" dirty="0"/>
              <a:t>9. Privacy, Ethics &amp; Safety</a:t>
            </a:r>
            <a:endParaRPr lang="en-IN" sz="1400" dirty="0"/>
          </a:p>
          <a:p>
            <a:r>
              <a:rPr lang="en-IN" sz="1400" dirty="0"/>
              <a:t>Protects sensitive user information through secure data handling and consent management. </a:t>
            </a:r>
          </a:p>
          <a:p>
            <a:r>
              <a:rPr lang="en-IN" sz="1400" dirty="0"/>
              <a:t>Follows responsible AI principles by avoiding harmful advice or medical diagnoses. </a:t>
            </a:r>
          </a:p>
          <a:p>
            <a:r>
              <a:rPr lang="en-IN" sz="1400" dirty="0"/>
              <a:t>Ensures every response complies with ethical guidelines and emphasizes professional support when necessary.</a:t>
            </a:r>
            <a:endParaRPr lang="en-IN" dirty="0"/>
          </a:p>
        </p:txBody>
      </p:sp>
    </p:spTree>
    <p:extLst>
      <p:ext uri="{BB962C8B-B14F-4D97-AF65-F5344CB8AC3E}">
        <p14:creationId xmlns:p14="http://schemas.microsoft.com/office/powerpoint/2010/main" val="1416941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356616" y="192024"/>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356616" y="818221"/>
            <a:ext cx="11301984" cy="5632311"/>
          </a:xfrm>
          <a:prstGeom prst="rect">
            <a:avLst/>
          </a:prstGeom>
          <a:noFill/>
        </p:spPr>
        <p:txBody>
          <a:bodyPr wrap="square" rtlCol="0">
            <a:spAutoFit/>
          </a:bodyPr>
          <a:lstStyle/>
          <a:p>
            <a:r>
              <a:rPr lang="en-IN" sz="1800" dirty="0"/>
              <a:t>The proposed </a:t>
            </a:r>
            <a:r>
              <a:rPr lang="en-IN" sz="1800" b="1" dirty="0" err="1"/>
              <a:t>MindGuard</a:t>
            </a:r>
            <a:r>
              <a:rPr lang="en-IN" sz="1800" b="1" dirty="0"/>
              <a:t> AI – Agentic AI for Mental Health Awareness &amp; Suicide Prevention</a:t>
            </a:r>
            <a:r>
              <a:rPr lang="en-IN" sz="1800" dirty="0"/>
              <a:t> platform introduces a </a:t>
            </a:r>
            <a:r>
              <a:rPr lang="en-IN" sz="1800" b="1" dirty="0"/>
              <a:t>proactive, multi-agent, and human-</a:t>
            </a:r>
            <a:r>
              <a:rPr lang="en-IN" sz="1800" b="1" dirty="0" err="1"/>
              <a:t>centered</a:t>
            </a:r>
            <a:r>
              <a:rPr lang="en-IN" sz="1800" b="1" dirty="0"/>
              <a:t> approach</a:t>
            </a:r>
            <a:r>
              <a:rPr lang="en-IN" sz="1800" dirty="0"/>
              <a:t> to mental healthcare. Unlike conventional chatbots that only respond to user queries, </a:t>
            </a:r>
            <a:r>
              <a:rPr lang="en-IN" sz="1800" dirty="0" err="1"/>
              <a:t>MindGuard</a:t>
            </a:r>
            <a:r>
              <a:rPr lang="en-IN" sz="1800" dirty="0"/>
              <a:t> AI leverages </a:t>
            </a:r>
            <a:r>
              <a:rPr lang="en-IN" sz="1800" b="1" dirty="0"/>
              <a:t>Agentic AI</a:t>
            </a:r>
            <a:r>
              <a:rPr lang="en-IN" sz="1800" dirty="0"/>
              <a:t> to understand context, coordinate specialized AI agents, predict emotional risks, and recommend timely interventions while maintaining ethical AI practices and user privacy.</a:t>
            </a:r>
          </a:p>
          <a:p>
            <a:r>
              <a:rPr lang="en-IN" sz="1800" b="1" dirty="0"/>
              <a:t>Key Novel Features</a:t>
            </a:r>
          </a:p>
          <a:p>
            <a:r>
              <a:rPr lang="en-IN" sz="1800" b="1" dirty="0"/>
              <a:t>1. Multi-Agent AI Architecture</a:t>
            </a:r>
            <a:endParaRPr lang="en-IN" sz="1800" dirty="0"/>
          </a:p>
          <a:p>
            <a:r>
              <a:rPr lang="en-IN" sz="1800" dirty="0"/>
              <a:t>Uses multiple specialized AI agents for awareness, early detection, empathetic conversation, risk prediction, and crisis support. </a:t>
            </a:r>
          </a:p>
          <a:p>
            <a:r>
              <a:rPr lang="en-IN" sz="1800" dirty="0"/>
              <a:t>Each agent performs a dedicated task while collaborating through </a:t>
            </a:r>
            <a:r>
              <a:rPr lang="en-IN" sz="1800" b="1" dirty="0"/>
              <a:t>IBM </a:t>
            </a:r>
            <a:r>
              <a:rPr lang="en-IN" sz="1800" b="1" dirty="0" err="1"/>
              <a:t>LangFlow</a:t>
            </a:r>
            <a:r>
              <a:rPr lang="en-IN" sz="1800" dirty="0"/>
              <a:t> and </a:t>
            </a:r>
            <a:r>
              <a:rPr lang="en-IN" sz="1800" b="1" dirty="0"/>
              <a:t>IBM Orchestrate</a:t>
            </a:r>
            <a:r>
              <a:rPr lang="en-IN" sz="1800" dirty="0"/>
              <a:t> for intelligent decision-making. </a:t>
            </a:r>
          </a:p>
          <a:p>
            <a:r>
              <a:rPr lang="en-IN" sz="1800" b="1" dirty="0"/>
              <a:t>2. Retrieval-Augmented Generation (RAG) for Trusted Responses</a:t>
            </a:r>
            <a:endParaRPr lang="en-IN" sz="1800" dirty="0"/>
          </a:p>
          <a:p>
            <a:r>
              <a:rPr lang="en-IN" sz="1800" dirty="0"/>
              <a:t>Integrates </a:t>
            </a:r>
            <a:r>
              <a:rPr lang="en-IN" sz="1800" b="1" dirty="0"/>
              <a:t>RAG</a:t>
            </a:r>
            <a:r>
              <a:rPr lang="en-IN" sz="1800" dirty="0"/>
              <a:t> to retrieve verified information from trusted mental health resources such as </a:t>
            </a:r>
            <a:r>
              <a:rPr lang="en-IN" sz="1800" b="1" dirty="0"/>
              <a:t>WHO</a:t>
            </a:r>
            <a:r>
              <a:rPr lang="en-IN" sz="1800" dirty="0"/>
              <a:t>, </a:t>
            </a:r>
            <a:r>
              <a:rPr lang="en-IN" sz="1800" b="1" dirty="0"/>
              <a:t>NIMH</a:t>
            </a:r>
            <a:r>
              <a:rPr lang="en-IN" sz="1800" dirty="0"/>
              <a:t>, and evidence-based wellness guidelines. </a:t>
            </a:r>
          </a:p>
          <a:p>
            <a:r>
              <a:rPr lang="en-IN" sz="1800" dirty="0"/>
              <a:t>Ensures responses are accurate, reliable, and grounded in current knowledge rather than relying only on the language model. </a:t>
            </a:r>
          </a:p>
          <a:p>
            <a:r>
              <a:rPr lang="en-IN" sz="1800" b="1" dirty="0"/>
              <a:t>3. Proactive Risk Prediction</a:t>
            </a:r>
            <a:endParaRPr lang="en-IN" sz="1800" dirty="0"/>
          </a:p>
          <a:p>
            <a:r>
              <a:rPr lang="en-IN" sz="1800" dirty="0"/>
              <a:t>Goes beyond reactive conversation by </a:t>
            </a:r>
            <a:r>
              <a:rPr lang="en-IN" sz="1800" dirty="0" err="1"/>
              <a:t>analyzing</a:t>
            </a:r>
            <a:r>
              <a:rPr lang="en-IN" sz="1800" dirty="0"/>
              <a:t> mood history, journal entries, and </a:t>
            </a:r>
            <a:r>
              <a:rPr lang="en-IN" sz="1800" dirty="0" err="1"/>
              <a:t>behavioral</a:t>
            </a:r>
            <a:r>
              <a:rPr lang="en-IN" sz="1800" dirty="0"/>
              <a:t> patterns to identify early signs of stress, anxiety, depression, or emotional burnout. </a:t>
            </a:r>
          </a:p>
          <a:p>
            <a:r>
              <a:rPr lang="en-IN" sz="1800" dirty="0"/>
              <a:t>Predicts potential mental health risks and recommends preventive actions before a crisis develops. </a:t>
            </a:r>
          </a:p>
        </p:txBody>
      </p:sp>
    </p:spTree>
    <p:extLst>
      <p:ext uri="{BB962C8B-B14F-4D97-AF65-F5344CB8AC3E}">
        <p14:creationId xmlns:p14="http://schemas.microsoft.com/office/powerpoint/2010/main" val="917964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85E7A5-52C0-402D-6963-2E37C0799960}"/>
              </a:ext>
            </a:extLst>
          </p:cNvPr>
          <p:cNvSpPr txBox="1"/>
          <p:nvPr/>
        </p:nvSpPr>
        <p:spPr>
          <a:xfrm>
            <a:off x="411480" y="173736"/>
            <a:ext cx="11384280" cy="5909310"/>
          </a:xfrm>
          <a:prstGeom prst="rect">
            <a:avLst/>
          </a:prstGeom>
          <a:noFill/>
        </p:spPr>
        <p:txBody>
          <a:bodyPr wrap="square">
            <a:spAutoFit/>
          </a:bodyPr>
          <a:lstStyle/>
          <a:p>
            <a:r>
              <a:rPr lang="en-IN" sz="1800" b="1" dirty="0"/>
              <a:t>4. Empathetic and Personalized AI Support</a:t>
            </a:r>
            <a:endParaRPr lang="en-IN" sz="1800" dirty="0"/>
          </a:p>
          <a:p>
            <a:r>
              <a:rPr lang="en-IN" sz="1800" dirty="0"/>
              <a:t>Delivers compassionate, context-aware conversations using </a:t>
            </a:r>
            <a:r>
              <a:rPr lang="en-IN" sz="1800" b="1" dirty="0"/>
              <a:t>IBM Granite Models</a:t>
            </a:r>
            <a:r>
              <a:rPr lang="en-IN" sz="1800" dirty="0"/>
              <a:t>. </a:t>
            </a:r>
          </a:p>
          <a:p>
            <a:r>
              <a:rPr lang="en-IN" sz="1800" dirty="0"/>
              <a:t>Provides personalized coping strategies, mindfulness exercises, and wellness recommendations based on each user's emotional state and preferences.</a:t>
            </a:r>
          </a:p>
          <a:p>
            <a:r>
              <a:rPr lang="en-IN" sz="1800" b="1" dirty="0"/>
              <a:t>5. Intelligent Crisis Escalation</a:t>
            </a:r>
            <a:endParaRPr lang="en-IN" sz="1800" dirty="0"/>
          </a:p>
          <a:p>
            <a:r>
              <a:rPr lang="en-IN" sz="1800" dirty="0"/>
              <a:t>Detects high-risk conversations indicating possible self-harm or suicidal thoughts. </a:t>
            </a:r>
          </a:p>
          <a:p>
            <a:r>
              <a:rPr lang="en-IN" sz="1800" dirty="0"/>
              <a:t>Immediately provides verified crisis helpline information, nearby </a:t>
            </a:r>
            <a:r>
              <a:rPr lang="en-IN" sz="1800" dirty="0" err="1"/>
              <a:t>counseling</a:t>
            </a:r>
            <a:r>
              <a:rPr lang="en-IN" sz="1800" dirty="0"/>
              <a:t> resources, and emergency guidance. </a:t>
            </a:r>
          </a:p>
          <a:p>
            <a:r>
              <a:rPr lang="en-IN" sz="1800" dirty="0"/>
              <a:t>Supports escalation to trusted contacts or caregivers with the user's consent. </a:t>
            </a:r>
          </a:p>
          <a:p>
            <a:r>
              <a:rPr lang="en-IN" sz="1800" b="1" dirty="0"/>
              <a:t>6. Privacy-First and Ethical AI Design</a:t>
            </a:r>
            <a:endParaRPr lang="en-IN" sz="1800" dirty="0"/>
          </a:p>
          <a:p>
            <a:r>
              <a:rPr lang="en-IN" sz="1800" dirty="0"/>
              <a:t>Incorporates consent management, secure data handling, and responsible AI principles. </a:t>
            </a:r>
          </a:p>
          <a:p>
            <a:r>
              <a:rPr lang="en-IN" sz="1800" dirty="0"/>
              <a:t>Avoids medical diagnosis and encourages professional mental health support whenever appropriate. </a:t>
            </a:r>
          </a:p>
          <a:p>
            <a:r>
              <a:rPr lang="en-IN" sz="1800" b="1" dirty="0"/>
              <a:t>7. Comprehensive Mental Wellness Platform</a:t>
            </a:r>
            <a:endParaRPr lang="en-IN" sz="1800" dirty="0"/>
          </a:p>
          <a:p>
            <a:r>
              <a:rPr lang="en-IN" sz="1800" dirty="0"/>
              <a:t>Combines AI chat, mood tracking, journaling, educational resources, predictive analytics, and emergency support into a single integrated platform. </a:t>
            </a:r>
          </a:p>
          <a:p>
            <a:r>
              <a:rPr lang="en-IN" sz="1800" dirty="0"/>
              <a:t>Enables users to monitor their emotional well-being through an intuitive and interactive dashboard. </a:t>
            </a:r>
          </a:p>
          <a:p>
            <a:r>
              <a:rPr lang="en-IN" sz="1800" b="1" dirty="0"/>
              <a:t>8. IBM AI Ecosystem Integration</a:t>
            </a:r>
            <a:endParaRPr lang="en-IN" sz="1800" dirty="0"/>
          </a:p>
          <a:p>
            <a:r>
              <a:rPr lang="en-IN" sz="1800" dirty="0"/>
              <a:t>Fully utilizes </a:t>
            </a:r>
            <a:r>
              <a:rPr lang="en-IN" sz="1800" b="1" dirty="0"/>
              <a:t>IBM </a:t>
            </a:r>
            <a:r>
              <a:rPr lang="en-IN" sz="1800" b="1" dirty="0" err="1"/>
              <a:t>LangFlow</a:t>
            </a:r>
            <a:r>
              <a:rPr lang="en-IN" sz="1800" dirty="0"/>
              <a:t>, </a:t>
            </a:r>
            <a:r>
              <a:rPr lang="en-IN" sz="1800" b="1" dirty="0"/>
              <a:t>IBM Orchestrate</a:t>
            </a:r>
            <a:r>
              <a:rPr lang="en-IN" sz="1800" dirty="0"/>
              <a:t>, </a:t>
            </a:r>
            <a:r>
              <a:rPr lang="en-IN" sz="1800" b="1" dirty="0"/>
              <a:t>IBM watsonx.ai</a:t>
            </a:r>
            <a:r>
              <a:rPr lang="en-IN" sz="1800" dirty="0"/>
              <a:t>, and </a:t>
            </a:r>
            <a:r>
              <a:rPr lang="en-IN" sz="1800" b="1" dirty="0"/>
              <a:t>IBM Granite Models</a:t>
            </a:r>
            <a:r>
              <a:rPr lang="en-IN" sz="1800" dirty="0"/>
              <a:t> to build an intelligent, scalable, and enterprise-ready Agentic AI solution. </a:t>
            </a:r>
          </a:p>
          <a:p>
            <a:r>
              <a:rPr lang="en-IN" sz="1800" dirty="0"/>
              <a:t>Demonstrates seamless orchestration of AI workflows, RAG pipelines, and specialized agents within a unified architecture.</a:t>
            </a:r>
          </a:p>
        </p:txBody>
      </p:sp>
    </p:spTree>
    <p:extLst>
      <p:ext uri="{BB962C8B-B14F-4D97-AF65-F5344CB8AC3E}">
        <p14:creationId xmlns:p14="http://schemas.microsoft.com/office/powerpoint/2010/main" val="2054363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0" i="0" u="none" strike="noStrike" cap="none" dirty="0">
                <a:solidFill>
                  <a:srgbClr val="000000"/>
                </a:solidFill>
                <a:latin typeface="Times New Roman"/>
                <a:ea typeface="Times New Roman"/>
                <a:cs typeface="Times New Roman"/>
                <a:sym typeface="Times New Roman"/>
              </a:rPr>
              <a:t>GitHub Link  :</a:t>
            </a:r>
            <a:r>
              <a:rPr lang="en-IN" sz="2000" b="0" i="0" u="none" strike="noStrike" cap="none" dirty="0">
                <a:solidFill>
                  <a:srgbClr val="000000"/>
                </a:solidFill>
                <a:latin typeface="Times New Roman"/>
                <a:ea typeface="Times New Roman"/>
                <a:cs typeface="Times New Roman"/>
                <a:sym typeface="Times New Roman"/>
              </a:rPr>
              <a:t> </a:t>
            </a:r>
            <a:r>
              <a:rPr lang="en-IN" sz="2000" dirty="0" err="1">
                <a:hlinkClick r:id="rId3"/>
              </a:rPr>
              <a:t>VyasVraj</a:t>
            </a:r>
            <a:r>
              <a:rPr lang="en-IN" sz="2000" dirty="0">
                <a:hlinkClick r:id="rId3"/>
              </a:rPr>
              <a:t>/</a:t>
            </a:r>
            <a:r>
              <a:rPr lang="en-IN" sz="2000" dirty="0" err="1">
                <a:hlinkClick r:id="rId3"/>
              </a:rPr>
              <a:t>IBM_Project</a:t>
            </a:r>
            <a:r>
              <a:rPr lang="en-IN" sz="2000" dirty="0">
                <a:hlinkClick r:id="rId3"/>
              </a:rPr>
              <a:t>: Config files for my GitHub profile.</a:t>
            </a:r>
            <a:endParaRPr lang="en-IN" sz="2000" dirty="0"/>
          </a:p>
          <a:p>
            <a:pPr lvl="0">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448056" y="205645"/>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448056" y="815662"/>
            <a:ext cx="11295888" cy="5731441"/>
          </a:xfrm>
          <a:prstGeom prst="rect">
            <a:avLst/>
          </a:prstGeom>
          <a:noFill/>
          <a:ln>
            <a:noFill/>
          </a:ln>
        </p:spPr>
        <p:txBody>
          <a:bodyPr spcFirstLastPara="1" wrap="square" lIns="0" tIns="0" rIns="0" bIns="0" anchor="t" anchorCtr="0">
            <a:noAutofit/>
          </a:bodyPr>
          <a:lstStyle/>
          <a:p>
            <a:r>
              <a:rPr lang="en-IN" sz="1600" dirty="0"/>
              <a:t>The </a:t>
            </a:r>
            <a:r>
              <a:rPr lang="en-IN" sz="1600" b="1" dirty="0" err="1"/>
              <a:t>MindGuard</a:t>
            </a:r>
            <a:r>
              <a:rPr lang="en-IN" sz="1600" b="1" dirty="0"/>
              <a:t> AI – Agentic AI for Mental Health Awareness &amp; Suicide Prevention</a:t>
            </a:r>
            <a:r>
              <a:rPr lang="en-IN" sz="1600" dirty="0"/>
              <a:t> platform has significant potential for future enhancement by incorporating advanced AI capabilities, broader healthcare integrations, and personalized mental wellness services. The following improvements can further increase its impact and accessibility:</a:t>
            </a:r>
          </a:p>
          <a:p>
            <a:r>
              <a:rPr lang="en-IN" sz="1600" b="1" dirty="0"/>
              <a:t>1. Wearable Device Integration</a:t>
            </a:r>
          </a:p>
          <a:p>
            <a:r>
              <a:rPr lang="en-IN" sz="1600" dirty="0"/>
              <a:t>Integrate with smartwatches and fitness bands (e.g., Apple Watch, Fitbit, Samsung Galaxy Watch) to monitor heart rate, sleep quality, physical activity, and stress indicators. </a:t>
            </a:r>
          </a:p>
          <a:p>
            <a:r>
              <a:rPr lang="en-IN" sz="1600" dirty="0"/>
              <a:t>Use real-time physiological data to provide more accurate emotional well-being assessments. </a:t>
            </a:r>
          </a:p>
          <a:p>
            <a:r>
              <a:rPr lang="en-IN" sz="1600" b="1" dirty="0"/>
              <a:t>2. Multilingual Support</a:t>
            </a:r>
          </a:p>
          <a:p>
            <a:r>
              <a:rPr lang="en-IN" sz="1600" dirty="0"/>
              <a:t>Expand the platform to support multiple regional and international languages. </a:t>
            </a:r>
          </a:p>
          <a:p>
            <a:r>
              <a:rPr lang="en-IN" sz="1600" dirty="0"/>
              <a:t>Enable users to interact with the AI in their preferred language, making mental health support more accessible to diverse communities. </a:t>
            </a:r>
          </a:p>
          <a:p>
            <a:r>
              <a:rPr lang="en-IN" sz="1600" b="1" dirty="0"/>
              <a:t>3. Voice-Based AI Assistance</a:t>
            </a:r>
          </a:p>
          <a:p>
            <a:r>
              <a:rPr lang="en-IN" sz="1600" dirty="0"/>
              <a:t>Introduce voice conversations with speech-to-text and text-to-speech capabilities. </a:t>
            </a:r>
          </a:p>
          <a:p>
            <a:r>
              <a:rPr lang="en-IN" sz="1600" dirty="0"/>
              <a:t>Improve accessibility for users who are uncomfortable with typing or have visual impairments.</a:t>
            </a:r>
          </a:p>
          <a:p>
            <a:pPr>
              <a:buNone/>
            </a:pPr>
            <a:r>
              <a:rPr lang="en-IN" sz="1600" b="1" dirty="0"/>
              <a:t>4. Advanced Predictive Analytics</a:t>
            </a:r>
          </a:p>
          <a:p>
            <a:pPr>
              <a:buFont typeface="Arial" panose="020B0604020202020204" pitchFamily="34" charset="0"/>
              <a:buChar char="•"/>
            </a:pPr>
            <a:r>
              <a:rPr lang="en-IN" sz="1600" dirty="0"/>
              <a:t>Apply advanced AI models to identify long-term mental health trends and detect potential emotional crises earlier. </a:t>
            </a:r>
          </a:p>
          <a:p>
            <a:pPr>
              <a:buFont typeface="Arial" panose="020B0604020202020204" pitchFamily="34" charset="0"/>
              <a:buChar char="•"/>
            </a:pPr>
            <a:r>
              <a:rPr lang="en-IN" sz="1600" dirty="0"/>
              <a:t>Deliver personalized preventive recommendations based on </a:t>
            </a:r>
            <a:r>
              <a:rPr lang="en-IN" sz="1600" dirty="0" err="1"/>
              <a:t>behavioral</a:t>
            </a:r>
            <a:r>
              <a:rPr lang="en-IN" sz="1600" dirty="0"/>
              <a:t> and historical data. </a:t>
            </a:r>
          </a:p>
          <a:p>
            <a:pPr>
              <a:buNone/>
            </a:pPr>
            <a:r>
              <a:rPr lang="en-IN" sz="1600" b="1" dirty="0"/>
              <a:t>5. Integration with Healthcare Systems</a:t>
            </a:r>
          </a:p>
          <a:p>
            <a:pPr>
              <a:buFont typeface="Arial" panose="020B0604020202020204" pitchFamily="34" charset="0"/>
              <a:buChar char="•"/>
            </a:pPr>
            <a:r>
              <a:rPr lang="en-IN" sz="1600" dirty="0"/>
              <a:t>Connect with hospitals, clinics, and licensed mental health professionals for secure referrals and appointment scheduling. </a:t>
            </a:r>
          </a:p>
          <a:p>
            <a:pPr>
              <a:buFont typeface="Arial" panose="020B0604020202020204" pitchFamily="34" charset="0"/>
              <a:buChar char="•"/>
            </a:pPr>
            <a:r>
              <a:rPr lang="en-IN" sz="1600" dirty="0"/>
              <a:t>Enable seamless collaboration between AI assistance and professional healthcare services. </a:t>
            </a:r>
          </a:p>
          <a:p>
            <a:pPr>
              <a:buNone/>
            </a:pPr>
            <a:r>
              <a:rPr lang="en-IN" sz="1600" b="1" dirty="0"/>
              <a:t>6. AI-Powered Personalized Wellness Plans</a:t>
            </a:r>
          </a:p>
          <a:p>
            <a:pPr>
              <a:buFont typeface="Arial" panose="020B0604020202020204" pitchFamily="34" charset="0"/>
              <a:buChar char="•"/>
            </a:pPr>
            <a:r>
              <a:rPr lang="en-IN" sz="1600" dirty="0"/>
              <a:t>Generate customized daily wellness routines based on mood patterns, lifestyle, sleep quality, and stress levels. </a:t>
            </a:r>
          </a:p>
          <a:p>
            <a:pPr>
              <a:buFont typeface="Arial" panose="020B0604020202020204" pitchFamily="34" charset="0"/>
              <a:buChar char="•"/>
            </a:pPr>
            <a:r>
              <a:rPr lang="en-IN" sz="1600" dirty="0"/>
              <a:t>Include meditation plans, breathing exercises, journaling prompts, physical activity suggestions, and healthy habit tracking. </a:t>
            </a:r>
          </a:p>
          <a:p>
            <a:endParaRPr lang="en-IN" sz="1600" dirty="0"/>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BB81C4-8CE1-DAB1-D649-7BD3A03CA537}"/>
              </a:ext>
            </a:extLst>
          </p:cNvPr>
          <p:cNvSpPr txBox="1"/>
          <p:nvPr/>
        </p:nvSpPr>
        <p:spPr>
          <a:xfrm>
            <a:off x="477012" y="457200"/>
            <a:ext cx="11237976" cy="2893100"/>
          </a:xfrm>
          <a:prstGeom prst="rect">
            <a:avLst/>
          </a:prstGeom>
          <a:noFill/>
        </p:spPr>
        <p:txBody>
          <a:bodyPr wrap="square">
            <a:spAutoFit/>
          </a:bodyPr>
          <a:lstStyle/>
          <a:p>
            <a:pPr>
              <a:buNone/>
            </a:pPr>
            <a:r>
              <a:rPr lang="en-IN" b="1" dirty="0"/>
              <a:t>7. Community Support Platform</a:t>
            </a:r>
          </a:p>
          <a:p>
            <a:pPr>
              <a:buFont typeface="Arial" panose="020B0604020202020204" pitchFamily="34" charset="0"/>
              <a:buChar char="•"/>
            </a:pPr>
            <a:r>
              <a:rPr lang="en-IN" dirty="0"/>
              <a:t>Develop a moderated peer-support community where users can share experiences, encourage one another, and participate in guided wellness discussions while maintaining privacy and safety.</a:t>
            </a:r>
          </a:p>
          <a:p>
            <a:r>
              <a:rPr lang="en-IN" b="1" dirty="0"/>
              <a:t>8. Mobile Application</a:t>
            </a:r>
          </a:p>
          <a:p>
            <a:r>
              <a:rPr lang="en-IN" dirty="0"/>
              <a:t>Launch Android and iOS applications with offline support, push notifications, and emergency assistance features. </a:t>
            </a:r>
          </a:p>
          <a:p>
            <a:r>
              <a:rPr lang="en-IN" dirty="0"/>
              <a:t>Increase accessibility for users anytime and anywhere. </a:t>
            </a:r>
          </a:p>
          <a:p>
            <a:r>
              <a:rPr lang="en-IN" b="1" dirty="0"/>
              <a:t>9. Smart Emergency Response</a:t>
            </a:r>
          </a:p>
          <a:p>
            <a:r>
              <a:rPr lang="en-IN" dirty="0"/>
              <a:t>With explicit user consent, integrate real-time emergency alert systems that can notify trusted contacts, caregivers, or mental health professionals when severe crisis situations are detected. </a:t>
            </a:r>
          </a:p>
          <a:p>
            <a:r>
              <a:rPr lang="en-IN" b="1" dirty="0"/>
              <a:t>10. Continuous Learning with IBM AI</a:t>
            </a:r>
          </a:p>
          <a:p>
            <a:r>
              <a:rPr lang="en-IN" dirty="0"/>
              <a:t>Enhance the Agentic AI framework using future IBM Granite Models, IBM watsonx.ai capabilities, and improved </a:t>
            </a:r>
            <a:r>
              <a:rPr lang="en-IN" dirty="0" err="1"/>
              <a:t>LangFlow</a:t>
            </a:r>
            <a:r>
              <a:rPr lang="en-IN" dirty="0"/>
              <a:t> workflows. </a:t>
            </a:r>
          </a:p>
          <a:p>
            <a:r>
              <a:rPr lang="en-IN" dirty="0"/>
              <a:t>Continuously update the RAG knowledge base with the latest evidence-based mental health research and clinical guidelines.</a:t>
            </a:r>
          </a:p>
          <a:p>
            <a:endParaRPr lang="en-IN" dirty="0"/>
          </a:p>
        </p:txBody>
      </p:sp>
    </p:spTree>
    <p:extLst>
      <p:ext uri="{BB962C8B-B14F-4D97-AF65-F5344CB8AC3E}">
        <p14:creationId xmlns:p14="http://schemas.microsoft.com/office/powerpoint/2010/main" val="2090685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9B3529AB-51BB-3D98-D7B6-8B3E4D0A1689}"/>
              </a:ext>
            </a:extLst>
          </p:cNvPr>
          <p:cNvPicPr>
            <a:picLocks noChangeAspect="1"/>
          </p:cNvPicPr>
          <p:nvPr/>
        </p:nvPicPr>
        <p:blipFill>
          <a:blip r:embed="rId2"/>
          <a:stretch>
            <a:fillRect/>
          </a:stretch>
        </p:blipFill>
        <p:spPr>
          <a:xfrm>
            <a:off x="2666703" y="799872"/>
            <a:ext cx="6858594" cy="5258256"/>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93235DCC-2F12-63DF-4A97-0FAA72A0EACC}"/>
              </a:ext>
            </a:extLst>
          </p:cNvPr>
          <p:cNvPicPr>
            <a:picLocks noChangeAspect="1"/>
          </p:cNvPicPr>
          <p:nvPr/>
        </p:nvPicPr>
        <p:blipFill>
          <a:blip r:embed="rId3"/>
          <a:stretch>
            <a:fillRect/>
          </a:stretch>
        </p:blipFill>
        <p:spPr>
          <a:xfrm>
            <a:off x="1215679" y="839017"/>
            <a:ext cx="9135329" cy="561388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TotalTime>
  <Words>2843</Words>
  <Application>Microsoft Office PowerPoint</Application>
  <PresentationFormat>Widescreen</PresentationFormat>
  <Paragraphs>276</Paragraphs>
  <Slides>22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IBM University Engagement Project Submission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Vyas Vraj</cp:lastModifiedBy>
  <cp:revision>21</cp:revision>
  <dcterms:created xsi:type="dcterms:W3CDTF">2025-07-08T05:06:56Z</dcterms:created>
  <dcterms:modified xsi:type="dcterms:W3CDTF">2026-07-11T06:15:31Z</dcterms:modified>
</cp:coreProperties>
</file>